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3" r:id="rId2"/>
  </p:sldMasterIdLst>
  <p:sldIdLst>
    <p:sldId id="2147483163" r:id="rId3"/>
    <p:sldId id="262" r:id="rId4"/>
    <p:sldId id="2147483164" r:id="rId5"/>
    <p:sldId id="2147483159" r:id="rId6"/>
    <p:sldId id="2147483165" r:id="rId7"/>
    <p:sldId id="2147483158" r:id="rId8"/>
    <p:sldId id="2147483166" r:id="rId9"/>
    <p:sldId id="257" r:id="rId10"/>
    <p:sldId id="2147483162" r:id="rId11"/>
    <p:sldId id="21474831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2E86A1"/>
    <a:srgbClr val="115E93"/>
    <a:srgbClr val="146E61"/>
    <a:srgbClr val="98CEF3"/>
    <a:srgbClr val="1D9C8A"/>
    <a:srgbClr val="F49B09"/>
    <a:srgbClr val="ADCA7B"/>
    <a:srgbClr val="EA6C15"/>
    <a:srgbClr val="0045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www.insight2profit.com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15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18.xml"/><Relationship Id="rId7" Type="http://schemas.openxmlformats.org/officeDocument/2006/relationships/oleObject" Target="../embeddings/oleObject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6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image" Target="../media/image8.png"/><Relationship Id="rId5" Type="http://schemas.openxmlformats.org/officeDocument/2006/relationships/image" Target="../media/image9.jpe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6" Type="http://schemas.openxmlformats.org/officeDocument/2006/relationships/image" Target="../media/image8.png"/><Relationship Id="rId5" Type="http://schemas.openxmlformats.org/officeDocument/2006/relationships/image" Target="../media/image10.jpeg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6" Type="http://schemas.openxmlformats.org/officeDocument/2006/relationships/image" Target="../media/image8.png"/><Relationship Id="rId5" Type="http://schemas.openxmlformats.org/officeDocument/2006/relationships/image" Target="../media/image12.jpeg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oleObject" Target="../embeddings/oleObject7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5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1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9007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631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4640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160188458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0725881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9262294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5910088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2974684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1476805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7672769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3364140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421456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6A96A659-C202-3B02-2CE1-798359EEE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9" y="6396269"/>
            <a:ext cx="1760924" cy="30121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5873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8498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71910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7436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017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6984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8961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9524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413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9008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724917834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101061995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8703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2001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57193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013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49169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3957938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970898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274300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20360414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Content - No Client Logo">
  <p:cSld name="1_4. Content - No Client Log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body"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  <a:defRPr sz="1600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46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2"/>
          </p:nvPr>
        </p:nvSpPr>
        <p:spPr>
          <a:xfrm>
            <a:off x="2599267" y="6321073"/>
            <a:ext cx="8720668" cy="52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body" idx="3"/>
          </p:nvPr>
        </p:nvSpPr>
        <p:spPr>
          <a:xfrm>
            <a:off x="381000" y="5632517"/>
            <a:ext cx="8917557" cy="69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4"/>
          </p:nvPr>
        </p:nvSpPr>
        <p:spPr>
          <a:xfrm>
            <a:off x="381000" y="-9059"/>
            <a:ext cx="11430000" cy="19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 b="0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6787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99192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562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5245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2437429257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978924109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8318398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504211120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887293867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485430414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681830559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959449301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28224037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6A96A659-C202-3B02-2CE1-798359EEE8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9" y="6396269"/>
            <a:ext cx="1760924" cy="30121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71550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020012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031099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08726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17777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99425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5699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97462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04197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19337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4149252507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890820110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35401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84138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0776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03712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02397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083020099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575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3569980375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77F06F85-3C5E-01DE-84E6-F9AFF5E910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1600" y="151200"/>
            <a:ext cx="11430000" cy="8964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600" b="0" i="0">
                <a:solidFill>
                  <a:schemeClr val="accent1"/>
                </a:solidFill>
                <a:latin typeface="+mj-lt"/>
                <a:cs typeface="Georgia"/>
              </a:defRPr>
            </a:lvl1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525A03-3D90-1839-39F7-F4BE67FFC73F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EC1932D9-048E-11ED-47DD-CCF5EABD9EC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599267" y="6321073"/>
            <a:ext cx="8720668" cy="52740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ct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source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5FC764-C288-2793-38D4-AFF54DF3570F}"/>
              </a:ext>
            </a:extLst>
          </p:cNvPr>
          <p:cNvCxnSpPr/>
          <p:nvPr userDrawn="1">
            <p:custDataLst>
              <p:tags r:id="rId4"/>
            </p:custDataLst>
          </p:nvPr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9759A0-17D3-62B6-C89B-14612BE87AE2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934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3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image" Target="../media/image14.emf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oleObject" Target="../embeddings/oleObject2.bin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B0E7093-5793-AF53-C3E4-7BA462CC0EBB}"/>
              </a:ext>
            </a:extLst>
          </p:cNvPr>
          <p:cNvGraphicFramePr>
            <a:graphicFrameLocks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1964435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04" imgH="405" progId="TCLayout.ActiveDocument.1">
                  <p:embed/>
                </p:oleObj>
              </mc:Choice>
              <mc:Fallback>
                <p:oleObj name="think-cell Slide" r:id="rId3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0E7093-5793-AF53-C3E4-7BA462CC0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06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395" imgH="394" progId="TCLayout.ActiveDocument.1">
                  <p:embed/>
                </p:oleObj>
              </mc:Choice>
              <mc:Fallback>
                <p:oleObj name="think-cell Slide" r:id="rId36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2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20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3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4.png"/><Relationship Id="rId1" Type="http://schemas.openxmlformats.org/officeDocument/2006/relationships/tags" Target="../tags/tag44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sv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emf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0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5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1.emf"/><Relationship Id="rId9" Type="http://schemas.openxmlformats.org/officeDocument/2006/relationships/image" Target="../media/image4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8.x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9.xml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0.xml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20.svg"/><Relationship Id="rId12" Type="http://schemas.openxmlformats.org/officeDocument/2006/relationships/image" Target="../media/image46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1.xml"/><Relationship Id="rId6" Type="http://schemas.openxmlformats.org/officeDocument/2006/relationships/image" Target="../media/image19.svg"/><Relationship Id="rId11" Type="http://schemas.openxmlformats.org/officeDocument/2006/relationships/image" Target="../media/image45.svg"/><Relationship Id="rId5" Type="http://schemas.openxmlformats.org/officeDocument/2006/relationships/image" Target="../media/image18.png"/><Relationship Id="rId10" Type="http://schemas.openxmlformats.org/officeDocument/2006/relationships/image" Target="../media/image44.svg"/><Relationship Id="rId4" Type="http://schemas.openxmlformats.org/officeDocument/2006/relationships/image" Target="../media/image17.emf"/><Relationship Id="rId9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2.xml"/><Relationship Id="rId5" Type="http://schemas.openxmlformats.org/officeDocument/2006/relationships/image" Target="../media/image47.sv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2CC7-74CB-CF56-F66E-F01223EA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D52C579-0627-07DD-D01A-250DEDD027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5" imgH="332" progId="TCLayout.ActiveDocument.1">
                  <p:embed/>
                </p:oleObj>
              </mc:Choice>
              <mc:Fallback>
                <p:oleObj name="think-cell Slide" r:id="rId3" imgW="345" imgH="332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52C579-0627-07DD-D01A-250DEDD027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Rectangle 114">
            <a:extLst>
              <a:ext uri="{FF2B5EF4-FFF2-40B4-BE49-F238E27FC236}">
                <a16:creationId xmlns:a16="http://schemas.microsoft.com/office/drawing/2014/main" id="{A90FC450-9D7B-5808-B679-96F4C8859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000" y="1665353"/>
            <a:ext cx="2120664" cy="3925822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10000"/>
                  <a:lumOff val="90000"/>
                  <a:alpha val="19000"/>
                </a:schemeClr>
              </a:gs>
              <a:gs pos="35000">
                <a:schemeClr val="tx2">
                  <a:lumMod val="10000"/>
                  <a:lumOff val="90000"/>
                  <a:alpha val="4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rgbClr val="25282A"/>
              </a:solidFill>
              <a:latin typeface="Arial Narrow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CF2A9EF-1946-FA35-AC2F-B2C1425E4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21883" y="1665352"/>
            <a:ext cx="9289116" cy="3925823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  <a:lumMod val="78000"/>
                </a:schemeClr>
              </a:gs>
              <a:gs pos="35000">
                <a:schemeClr val="bg1">
                  <a:lumMod val="85000"/>
                  <a:alpha val="2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9F706C-BC41-3D0E-9461-E1160433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591925" cy="897744"/>
          </a:xfrm>
        </p:spPr>
        <p:txBody>
          <a:bodyPr vert="horz" rIns="91440"/>
          <a:lstStyle/>
          <a:p>
            <a:r>
              <a:rPr lang="en-US" b="1"/>
              <a:t>Dynamic Model </a:t>
            </a:r>
            <a:r>
              <a:rPr lang="en-US"/>
              <a:t>| We combine data science and strategic guidance to improve decision quality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7FAF02-482E-E8CB-A1E3-35B1166062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1E1E139F-0189-C42F-CB4F-86D826DE0D2A}"/>
              </a:ext>
            </a:extLst>
          </p:cNvPr>
          <p:cNvSpPr/>
          <p:nvPr/>
        </p:nvSpPr>
        <p:spPr>
          <a:xfrm>
            <a:off x="390525" y="1349320"/>
            <a:ext cx="2218267" cy="350935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Model Inputs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A3773A40-C3AA-DEB4-2129-7946B2C02B99}"/>
              </a:ext>
            </a:extLst>
          </p:cNvPr>
          <p:cNvSpPr/>
          <p:nvPr/>
        </p:nvSpPr>
        <p:spPr>
          <a:xfrm>
            <a:off x="2498463" y="1349320"/>
            <a:ext cx="3906436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Segmentation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7B6CA567-EE28-BF6A-1068-15A485BB75E1}"/>
              </a:ext>
            </a:extLst>
          </p:cNvPr>
          <p:cNvSpPr/>
          <p:nvPr/>
        </p:nvSpPr>
        <p:spPr>
          <a:xfrm>
            <a:off x="6294570" y="1349320"/>
            <a:ext cx="3260034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Parameters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034A9A2F-2EB0-0A84-347B-4C41D1143938}"/>
              </a:ext>
            </a:extLst>
          </p:cNvPr>
          <p:cNvSpPr/>
          <p:nvPr/>
        </p:nvSpPr>
        <p:spPr>
          <a:xfrm>
            <a:off x="9444274" y="1349320"/>
            <a:ext cx="2386190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Outputs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8C5EA3E-CA26-4B9D-D351-7375ECD6E1F6}"/>
              </a:ext>
            </a:extLst>
          </p:cNvPr>
          <p:cNvGraphicFramePr>
            <a:graphicFrameLocks noGrp="1"/>
          </p:cNvGraphicFramePr>
          <p:nvPr/>
        </p:nvGraphicFramePr>
        <p:xfrm>
          <a:off x="6351262" y="2703822"/>
          <a:ext cx="2904597" cy="2546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966">
                  <a:extLst>
                    <a:ext uri="{9D8B030D-6E8A-4147-A177-3AD203B41FA5}">
                      <a16:colId xmlns:a16="http://schemas.microsoft.com/office/drawing/2014/main" val="136644499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741853035"/>
                    </a:ext>
                  </a:extLst>
                </a:gridCol>
              </a:tblGrid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Customer 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Product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+1.2%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Volume Trend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End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Market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2867395"/>
                  </a:ext>
                </a:extLst>
              </a:tr>
            </a:tbl>
          </a:graphicData>
        </a:graphic>
      </p:graphicFrame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7322F062-B9ED-B7AC-9E5C-E7B94B414334}"/>
              </a:ext>
            </a:extLst>
          </p:cNvPr>
          <p:cNvSpPr/>
          <p:nvPr/>
        </p:nvSpPr>
        <p:spPr>
          <a:xfrm>
            <a:off x="7307588" y="2363409"/>
            <a:ext cx="640901" cy="311875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</a:t>
            </a: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3A05D7ED-B3E1-974B-EEDF-7841D2DBF648}"/>
              </a:ext>
            </a:extLst>
          </p:cNvPr>
          <p:cNvSpPr/>
          <p:nvPr/>
        </p:nvSpPr>
        <p:spPr>
          <a:xfrm>
            <a:off x="7958221" y="2363409"/>
            <a:ext cx="640901" cy="311875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B</a:t>
            </a: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AF04483A-E0B6-1D28-7348-07690D4486AD}"/>
              </a:ext>
            </a:extLst>
          </p:cNvPr>
          <p:cNvSpPr/>
          <p:nvPr/>
        </p:nvSpPr>
        <p:spPr>
          <a:xfrm>
            <a:off x="8608854" y="2363409"/>
            <a:ext cx="640901" cy="311875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C</a:t>
            </a:r>
          </a:p>
        </p:txBody>
      </p:sp>
      <p:sp>
        <p:nvSpPr>
          <p:cNvPr id="102" name="Flowchart: Process 101">
            <a:extLst>
              <a:ext uri="{FF2B5EF4-FFF2-40B4-BE49-F238E27FC236}">
                <a16:creationId xmlns:a16="http://schemas.microsoft.com/office/drawing/2014/main" id="{62E53B32-AE4B-096A-1919-DF54FF13DE04}"/>
              </a:ext>
            </a:extLst>
          </p:cNvPr>
          <p:cNvSpPr/>
          <p:nvPr/>
        </p:nvSpPr>
        <p:spPr>
          <a:xfrm>
            <a:off x="9633540" y="2660132"/>
            <a:ext cx="310896" cy="850392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03" name="Flowchart: Process 102">
            <a:extLst>
              <a:ext uri="{FF2B5EF4-FFF2-40B4-BE49-F238E27FC236}">
                <a16:creationId xmlns:a16="http://schemas.microsoft.com/office/drawing/2014/main" id="{C5E207C0-8641-A07E-0B1A-3EDBD39FE365}"/>
              </a:ext>
            </a:extLst>
          </p:cNvPr>
          <p:cNvSpPr/>
          <p:nvPr/>
        </p:nvSpPr>
        <p:spPr>
          <a:xfrm>
            <a:off x="9633539" y="3541525"/>
            <a:ext cx="310896" cy="850392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</a:t>
            </a:r>
          </a:p>
        </p:txBody>
      </p:sp>
      <p:sp>
        <p:nvSpPr>
          <p:cNvPr id="104" name="Flowchart: Process 103">
            <a:extLst>
              <a:ext uri="{FF2B5EF4-FFF2-40B4-BE49-F238E27FC236}">
                <a16:creationId xmlns:a16="http://schemas.microsoft.com/office/drawing/2014/main" id="{BBE90C92-AC93-946B-CCE0-E3D43808FF7A}"/>
              </a:ext>
            </a:extLst>
          </p:cNvPr>
          <p:cNvSpPr/>
          <p:nvPr/>
        </p:nvSpPr>
        <p:spPr>
          <a:xfrm>
            <a:off x="9633539" y="4427607"/>
            <a:ext cx="310896" cy="850392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6BFFF93E-55CF-00A3-C358-3CC8C6B23C4D}"/>
              </a:ext>
            </a:extLst>
          </p:cNvPr>
          <p:cNvGraphicFramePr>
            <a:graphicFrameLocks noGrp="1"/>
          </p:cNvGraphicFramePr>
          <p:nvPr/>
        </p:nvGraphicFramePr>
        <p:xfrm>
          <a:off x="9973704" y="2348116"/>
          <a:ext cx="1667216" cy="2921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608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833608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</a:tblGrid>
              <a:tr h="307798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Win Rate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32628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$17.96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$18.44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D2ACA46-4783-515F-1EAF-1F6C3107CBE2}"/>
              </a:ext>
            </a:extLst>
          </p:cNvPr>
          <p:cNvSpPr txBox="1">
            <a:spLocks/>
          </p:cNvSpPr>
          <p:nvPr/>
        </p:nvSpPr>
        <p:spPr>
          <a:xfrm>
            <a:off x="6461060" y="234811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chemeClr val="tx1">
                    <a:lumMod val="90000"/>
                    <a:lumOff val="10000"/>
                  </a:schemeClr>
                </a:solidFill>
              </a:rPr>
              <a:t>Lever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1AA2F8-C428-F6D9-7D6F-9A98A093F43F}"/>
              </a:ext>
            </a:extLst>
          </p:cNvPr>
          <p:cNvSpPr txBox="1">
            <a:spLocks/>
          </p:cNvSpPr>
          <p:nvPr/>
        </p:nvSpPr>
        <p:spPr>
          <a:xfrm>
            <a:off x="2631104" y="1851923"/>
            <a:ext cx="3588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Identify which patterns drive behavior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C27E6-4804-C93D-AE74-C821E7EEAF57}"/>
              </a:ext>
            </a:extLst>
          </p:cNvPr>
          <p:cNvSpPr txBox="1">
            <a:spLocks/>
          </p:cNvSpPr>
          <p:nvPr/>
        </p:nvSpPr>
        <p:spPr>
          <a:xfrm>
            <a:off x="6250947" y="1827965"/>
            <a:ext cx="3193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Differentiate position across segments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DBCFA9-624F-9EB9-6E60-7037F35D8E95}"/>
              </a:ext>
            </a:extLst>
          </p:cNvPr>
          <p:cNvSpPr txBox="1">
            <a:spLocks/>
          </p:cNvSpPr>
          <p:nvPr/>
        </p:nvSpPr>
        <p:spPr>
          <a:xfrm>
            <a:off x="9476036" y="1827965"/>
            <a:ext cx="2334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Predict price and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9BF3E-5C65-31FC-C367-9E3385FF4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911" y="2363409"/>
            <a:ext cx="3109940" cy="30874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2403BB-230A-F6A5-12C1-A807D59D8C60}"/>
              </a:ext>
            </a:extLst>
          </p:cNvPr>
          <p:cNvSpPr/>
          <p:nvPr/>
        </p:nvSpPr>
        <p:spPr>
          <a:xfrm>
            <a:off x="390525" y="5657850"/>
            <a:ext cx="2100115" cy="57311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Coupled with </a:t>
            </a:r>
            <a:br>
              <a:rPr lang="en-US" sz="1600" b="1"/>
            </a:br>
            <a:r>
              <a:rPr lang="en-US" sz="1600" b="1"/>
              <a:t>Strategic Guidance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FEE5E3-16F6-732C-B241-5219078F9D4C}"/>
              </a:ext>
            </a:extLst>
          </p:cNvPr>
          <p:cNvSpPr/>
          <p:nvPr/>
        </p:nvSpPr>
        <p:spPr>
          <a:xfrm>
            <a:off x="2608792" y="5657850"/>
            <a:ext cx="3642155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Distill commercially viable segments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667DA94F-60D3-5870-D5D2-ABD466435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29" y="5742843"/>
            <a:ext cx="408366" cy="40836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3C553BB-6E09-FCD4-174B-4D009E6C37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1060" y="5739729"/>
            <a:ext cx="411480" cy="41148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36D343E-BD92-133A-7A36-4EE6ED2A2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0184" y="5739729"/>
            <a:ext cx="411480" cy="4114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A18FA8C-8BB8-1F51-5058-99D802C0C839}"/>
              </a:ext>
            </a:extLst>
          </p:cNvPr>
          <p:cNvSpPr/>
          <p:nvPr/>
        </p:nvSpPr>
        <p:spPr>
          <a:xfrm>
            <a:off x="6397084" y="5657850"/>
            <a:ext cx="2852671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Align position with priorities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8EB2EA-5CB2-2EBB-BD64-95A63D90122F}"/>
              </a:ext>
            </a:extLst>
          </p:cNvPr>
          <p:cNvSpPr/>
          <p:nvPr/>
        </p:nvSpPr>
        <p:spPr>
          <a:xfrm>
            <a:off x="9633539" y="5657850"/>
            <a:ext cx="2030736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Adjust intelligently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861953-D7C9-DBED-F0EC-8EE19E811D7F}"/>
              </a:ext>
            </a:extLst>
          </p:cNvPr>
          <p:cNvSpPr/>
          <p:nvPr/>
        </p:nvSpPr>
        <p:spPr>
          <a:xfrm>
            <a:off x="327768" y="5562352"/>
            <a:ext cx="11429999" cy="72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F339102-03CE-D8F7-215C-0DFF5CDBDB70}"/>
              </a:ext>
            </a:extLst>
          </p:cNvPr>
          <p:cNvGrpSpPr/>
          <p:nvPr/>
        </p:nvGrpSpPr>
        <p:grpSpPr>
          <a:xfrm>
            <a:off x="1274850" y="5371873"/>
            <a:ext cx="333376" cy="347376"/>
            <a:chOff x="1274850" y="5371873"/>
            <a:chExt cx="333376" cy="34737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366BC17-0D83-3B84-486F-F603B03B23A3}"/>
                </a:ext>
              </a:extLst>
            </p:cNvPr>
            <p:cNvSpPr/>
            <p:nvPr/>
          </p:nvSpPr>
          <p:spPr>
            <a:xfrm>
              <a:off x="1274851" y="5387461"/>
              <a:ext cx="333375" cy="33178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2439E2-FF58-F6B8-DB8E-5A6751764916}"/>
                </a:ext>
              </a:extLst>
            </p:cNvPr>
            <p:cNvSpPr/>
            <p:nvPr/>
          </p:nvSpPr>
          <p:spPr>
            <a:xfrm>
              <a:off x="1274850" y="5371873"/>
              <a:ext cx="333375" cy="331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/>
                </a:rPr>
                <a:t>+</a:t>
              </a:r>
              <a:endParaRPr kumimoji="0" lang="en-US" sz="3200" i="1" u="none" strike="noStrike" kern="1200" cap="none" spc="0" normalizeH="0" baseline="30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50A3759-318B-58A9-E780-9C970702418A}"/>
              </a:ext>
            </a:extLst>
          </p:cNvPr>
          <p:cNvSpPr/>
          <p:nvPr/>
        </p:nvSpPr>
        <p:spPr>
          <a:xfrm>
            <a:off x="495300" y="3741565"/>
            <a:ext cx="2003163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Industry Expertise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Benchmarks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Key Drivers</a:t>
            </a:r>
          </a:p>
          <a:p>
            <a:endParaRPr lang="en-US" sz="16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44C1C1A-92A8-5BBB-110C-8334835EF7F2}"/>
              </a:ext>
            </a:extLst>
          </p:cNvPr>
          <p:cNvSpPr/>
          <p:nvPr/>
        </p:nvSpPr>
        <p:spPr>
          <a:xfrm>
            <a:off x="495300" y="1921065"/>
            <a:ext cx="2003163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Internal Data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Transactions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Customer/Product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9111592-0AE6-A11A-AAD3-DA251E8A2C6F}"/>
              </a:ext>
            </a:extLst>
          </p:cNvPr>
          <p:cNvSpPr/>
          <p:nvPr/>
        </p:nvSpPr>
        <p:spPr>
          <a:xfrm>
            <a:off x="495300" y="2834341"/>
            <a:ext cx="2003163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External Data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Market Response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Sentiment Analysis</a:t>
            </a:r>
          </a:p>
          <a:p>
            <a:endParaRPr lang="en-US" sz="16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E3C3E-01A2-6F30-AA74-22EECAF1F24B}"/>
              </a:ext>
            </a:extLst>
          </p:cNvPr>
          <p:cNvSpPr/>
          <p:nvPr/>
        </p:nvSpPr>
        <p:spPr>
          <a:xfrm>
            <a:off x="495300" y="4643986"/>
            <a:ext cx="2003163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In-House Knowledge</a:t>
            </a:r>
          </a:p>
          <a:p>
            <a:pPr marL="171450" indent="-171450">
              <a:buFontTx/>
              <a:buChar char="-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Internal Expertise</a:t>
            </a:r>
          </a:p>
          <a:p>
            <a:endParaRPr lang="en-US" sz="16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91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F336-EBDD-D412-32BC-B99CC70A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9BDB85E-D5E2-A427-6D6B-DF76543011E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BDB85E-D5E2-A427-6D6B-DF76543011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6CA6979-E4D4-CF33-79D9-CB1C3547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/>
          </a:bodyPr>
          <a:lstStyle/>
          <a:p>
            <a:r>
              <a:rPr lang="en-US" b="1"/>
              <a:t>Intelligent Resolution | </a:t>
            </a:r>
            <a:r>
              <a:rPr lang="en-US"/>
              <a:t>Translates ambiguous customer requests into configured quotes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76E8FD-EEDA-0D1C-4605-8CBE0C6C4F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sz="1050">
              <a:latin typeface="+mj-lt"/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8720F50E-EAC0-7BBF-62FF-F612ACD09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812" y="5562780"/>
            <a:ext cx="411480" cy="41148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0E58468-A136-0A51-3F58-879B0F73D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812" y="3857073"/>
            <a:ext cx="411480" cy="41148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3F6F16E-1DBD-88C9-D1F5-3E7F86AE5F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812" y="4709927"/>
            <a:ext cx="411480" cy="41148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28509754-D391-867F-5BA9-A57363E28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812" y="3004219"/>
            <a:ext cx="411480" cy="41148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6F41AEDF-C604-32DF-15E7-CBD719ED79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812" y="1594239"/>
            <a:ext cx="411480" cy="411480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6EF01E04-DDB5-3A8D-1990-23EB2BEF9FF4}"/>
              </a:ext>
            </a:extLst>
          </p:cNvPr>
          <p:cNvSpPr/>
          <p:nvPr/>
        </p:nvSpPr>
        <p:spPr>
          <a:xfrm>
            <a:off x="320040" y="1319928"/>
            <a:ext cx="2926080" cy="99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C1D9353-D5B7-FF29-DE56-05A6EDCEF2EB}"/>
              </a:ext>
            </a:extLst>
          </p:cNvPr>
          <p:cNvSpPr/>
          <p:nvPr/>
        </p:nvSpPr>
        <p:spPr>
          <a:xfrm>
            <a:off x="502920" y="1389198"/>
            <a:ext cx="402336" cy="402336"/>
          </a:xfrm>
          <a:prstGeom prst="ellipse">
            <a:avLst/>
          </a:prstGeom>
          <a:solidFill>
            <a:srgbClr val="EAF3F8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DF4E2DE-22D6-95A5-FB6E-1DB507D55F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1471494"/>
            <a:ext cx="219456" cy="219456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A9E3C652-5D73-6AE1-1E6F-6491E3D7D131}"/>
              </a:ext>
            </a:extLst>
          </p:cNvPr>
          <p:cNvSpPr/>
          <p:nvPr/>
        </p:nvSpPr>
        <p:spPr>
          <a:xfrm>
            <a:off x="1033272" y="146164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466E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1.  INBOUND </a:t>
            </a:r>
            <a:r>
              <a:rPr lang="en-US" sz="1400" b="1">
                <a:solidFill>
                  <a:srgbClr val="00466E"/>
                </a:solidFill>
                <a:latin typeface="Arial Narrow"/>
                <a:ea typeface="Calibri" pitchFamily="34" charset="-122"/>
                <a:cs typeface="Calibri" pitchFamily="34" charset="-120"/>
              </a:rPr>
              <a:t>REQUEST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411150-83A7-9692-DD8C-09242C8859A3}"/>
              </a:ext>
            </a:extLst>
          </p:cNvPr>
          <p:cNvSpPr/>
          <p:nvPr/>
        </p:nvSpPr>
        <p:spPr>
          <a:xfrm>
            <a:off x="502920" y="186468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Customer submits unstructured quote request with raw product description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63DB532A-9515-BF70-723D-22CFC6BD495C}"/>
              </a:ext>
            </a:extLst>
          </p:cNvPr>
          <p:cNvSpPr/>
          <p:nvPr/>
        </p:nvSpPr>
        <p:spPr>
          <a:xfrm>
            <a:off x="4526280" y="1319928"/>
            <a:ext cx="3108960" cy="99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960A24D-A17E-019A-02A3-797F8C7C25A9}"/>
              </a:ext>
            </a:extLst>
          </p:cNvPr>
          <p:cNvSpPr/>
          <p:nvPr/>
        </p:nvSpPr>
        <p:spPr>
          <a:xfrm>
            <a:off x="4709160" y="1389198"/>
            <a:ext cx="402336" cy="402336"/>
          </a:xfrm>
          <a:prstGeom prst="ellipse">
            <a:avLst/>
          </a:prstGeom>
          <a:solidFill>
            <a:srgbClr val="FEF0E6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DB7D3D04-F228-BD18-A492-8DF74D57E5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456" y="1471494"/>
            <a:ext cx="219456" cy="219456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6725DF5F-0CF1-B7A0-935C-6DEE440E5307}"/>
              </a:ext>
            </a:extLst>
          </p:cNvPr>
          <p:cNvSpPr/>
          <p:nvPr/>
        </p:nvSpPr>
        <p:spPr>
          <a:xfrm>
            <a:off x="5239512" y="146164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466E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2.  RESOLUTION AGENT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D642504-4346-BC6B-33E0-B19F826231AA}"/>
              </a:ext>
            </a:extLst>
          </p:cNvPr>
          <p:cNvSpPr/>
          <p:nvPr/>
        </p:nvSpPr>
        <p:spPr>
          <a:xfrm>
            <a:off x="4709160" y="1864686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Parses, normalizes &amp; cross-references product master using multi-layer matching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5B020591-0335-A559-99CE-0A09B7FCAD07}"/>
              </a:ext>
            </a:extLst>
          </p:cNvPr>
          <p:cNvSpPr/>
          <p:nvPr/>
        </p:nvSpPr>
        <p:spPr>
          <a:xfrm>
            <a:off x="3264408" y="1782390"/>
            <a:ext cx="1234440" cy="73152"/>
          </a:xfrm>
          <a:prstGeom prst="rect">
            <a:avLst/>
          </a:prstGeom>
          <a:solidFill>
            <a:srgbClr val="E56910"/>
          </a:solidFill>
          <a:ln w="12700">
            <a:solidFill>
              <a:srgbClr val="E569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21E676F6-C8EF-1880-70E7-27EF40307B26}"/>
              </a:ext>
            </a:extLst>
          </p:cNvPr>
          <p:cNvSpPr/>
          <p:nvPr/>
        </p:nvSpPr>
        <p:spPr>
          <a:xfrm>
            <a:off x="7662672" y="1782390"/>
            <a:ext cx="1234440" cy="73152"/>
          </a:xfrm>
          <a:prstGeom prst="rect">
            <a:avLst/>
          </a:prstGeom>
          <a:solidFill>
            <a:srgbClr val="E56910"/>
          </a:solidFill>
          <a:ln w="12700">
            <a:solidFill>
              <a:srgbClr val="E569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7E479DD0-8D23-966F-1518-D4E679BE9CF9}"/>
              </a:ext>
            </a:extLst>
          </p:cNvPr>
          <p:cNvSpPr/>
          <p:nvPr/>
        </p:nvSpPr>
        <p:spPr>
          <a:xfrm>
            <a:off x="0" y="2504124"/>
            <a:ext cx="12161520" cy="156828"/>
          </a:xfrm>
          <a:prstGeom prst="rect">
            <a:avLst/>
          </a:prstGeom>
          <a:solidFill>
            <a:srgbClr val="00466E"/>
          </a:solidFill>
          <a:ln w="12700">
            <a:solidFill>
              <a:srgbClr val="0046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72081113-583F-443A-5447-66BE74F1B2CC}"/>
              </a:ext>
            </a:extLst>
          </p:cNvPr>
          <p:cNvSpPr/>
          <p:nvPr/>
        </p:nvSpPr>
        <p:spPr>
          <a:xfrm>
            <a:off x="411480" y="247281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LIVE EXAMPLE  ·  END-TO-END SKU RESOLUTION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8FA0F412-C6A1-C340-90C0-CE7BDFC52A7B}"/>
              </a:ext>
            </a:extLst>
          </p:cNvPr>
          <p:cNvSpPr/>
          <p:nvPr/>
        </p:nvSpPr>
        <p:spPr>
          <a:xfrm>
            <a:off x="320040" y="2739390"/>
            <a:ext cx="347472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2B2287-29E9-5265-C4BE-02E567BDE9A0}"/>
              </a:ext>
            </a:extLst>
          </p:cNvPr>
          <p:cNvSpPr/>
          <p:nvPr/>
        </p:nvSpPr>
        <p:spPr>
          <a:xfrm>
            <a:off x="320040" y="2739390"/>
            <a:ext cx="3474720" cy="384048"/>
          </a:xfrm>
          <a:prstGeom prst="rect">
            <a:avLst/>
          </a:prstGeom>
          <a:solidFill>
            <a:srgbClr val="00466E"/>
          </a:solidFill>
          <a:ln w="12700">
            <a:solidFill>
              <a:srgbClr val="0046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44D46E4E-0688-EF6C-9841-3683DC122D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830830"/>
            <a:ext cx="201168" cy="201168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31C3B6DD-3F8F-E0B0-397B-C5E107A329A7}"/>
              </a:ext>
            </a:extLst>
          </p:cNvPr>
          <p:cNvSpPr/>
          <p:nvPr/>
        </p:nvSpPr>
        <p:spPr>
          <a:xfrm>
            <a:off x="740664" y="283083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1100" b="1">
                <a:solidFill>
                  <a:srgbClr val="FFFFFF"/>
                </a:solidFill>
                <a:latin typeface="Arial Narrow"/>
                <a:ea typeface="Calibri" pitchFamily="34" charset="-122"/>
                <a:cs typeface="Calibri" pitchFamily="34" charset="-120"/>
              </a:rPr>
              <a:t>REQUEST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365852F9-9B07-039F-5B0F-5B56264701AE}"/>
              </a:ext>
            </a:extLst>
          </p:cNvPr>
          <p:cNvSpPr/>
          <p:nvPr/>
        </p:nvSpPr>
        <p:spPr>
          <a:xfrm>
            <a:off x="484632" y="3251454"/>
            <a:ext cx="3145536" cy="246888"/>
          </a:xfrm>
          <a:prstGeom prst="rect">
            <a:avLst/>
          </a:prstGeom>
          <a:solidFill>
            <a:srgbClr val="F2F7FA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64D2E9-DEDF-896A-6B6E-08D68DC5A736}"/>
              </a:ext>
            </a:extLst>
          </p:cNvPr>
          <p:cNvSpPr/>
          <p:nvPr/>
        </p:nvSpPr>
        <p:spPr>
          <a:xfrm>
            <a:off x="557784" y="328803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7A95A5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FROM: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D8634A94-0DFE-70E6-4F05-96D1E9624699}"/>
              </a:ext>
            </a:extLst>
          </p:cNvPr>
          <p:cNvSpPr/>
          <p:nvPr/>
        </p:nvSpPr>
        <p:spPr>
          <a:xfrm>
            <a:off x="1143000" y="328803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buyer@industrialco.com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C0D6A0D1-269B-681D-17C9-4FB33F4CFC77}"/>
              </a:ext>
            </a:extLst>
          </p:cNvPr>
          <p:cNvSpPr/>
          <p:nvPr/>
        </p:nvSpPr>
        <p:spPr>
          <a:xfrm>
            <a:off x="484632" y="3525774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B64B403C-9EED-04B8-F885-93385B163F29}"/>
              </a:ext>
            </a:extLst>
          </p:cNvPr>
          <p:cNvSpPr/>
          <p:nvPr/>
        </p:nvSpPr>
        <p:spPr>
          <a:xfrm>
            <a:off x="557784" y="356235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7A95A5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SUBJ: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A76B148D-9AAF-41FD-7BD0-F182D27D9D35}"/>
              </a:ext>
            </a:extLst>
          </p:cNvPr>
          <p:cNvSpPr/>
          <p:nvPr/>
        </p:nvSpPr>
        <p:spPr>
          <a:xfrm>
            <a:off x="1143000" y="356235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Quote Request — Insulators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11CB6067-66F7-DE3A-887C-CB4CB0456CE8}"/>
              </a:ext>
            </a:extLst>
          </p:cNvPr>
          <p:cNvSpPr/>
          <p:nvPr/>
        </p:nvSpPr>
        <p:spPr>
          <a:xfrm>
            <a:off x="484632" y="3873246"/>
            <a:ext cx="3145536" cy="1316736"/>
          </a:xfrm>
          <a:prstGeom prst="rect">
            <a:avLst/>
          </a:prstGeom>
          <a:solidFill>
            <a:srgbClr val="F7FAFC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D1DAFA9C-97D8-7F3C-8047-D1D4397F801A}"/>
              </a:ext>
            </a:extLst>
          </p:cNvPr>
          <p:cNvSpPr/>
          <p:nvPr/>
        </p:nvSpPr>
        <p:spPr>
          <a:xfrm>
            <a:off x="484632" y="3873246"/>
            <a:ext cx="45720" cy="1316736"/>
          </a:xfrm>
          <a:prstGeom prst="rect">
            <a:avLst/>
          </a:prstGeom>
          <a:solidFill>
            <a:srgbClr val="C5DDE9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9E52CF6C-4653-1F7C-18E1-F2769C37330D}"/>
              </a:ext>
            </a:extLst>
          </p:cNvPr>
          <p:cNvSpPr/>
          <p:nvPr/>
        </p:nvSpPr>
        <p:spPr>
          <a:xfrm>
            <a:off x="612648" y="392811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"I need price for the following:
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466E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INSULATOR, 2.7KV, 3/8-16,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466E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MAR-BAL, R4225-S5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Quote quantities: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1 / 5 / 10 / 25 / 50 / 100"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2" name="Shape 37">
            <a:extLst>
              <a:ext uri="{FF2B5EF4-FFF2-40B4-BE49-F238E27FC236}">
                <a16:creationId xmlns:a16="http://schemas.microsoft.com/office/drawing/2014/main" id="{36FA3F89-6498-B22B-801A-7DA869EC933A}"/>
              </a:ext>
            </a:extLst>
          </p:cNvPr>
          <p:cNvSpPr/>
          <p:nvPr/>
        </p:nvSpPr>
        <p:spPr>
          <a:xfrm>
            <a:off x="484632" y="5317998"/>
            <a:ext cx="3145536" cy="804672"/>
          </a:xfrm>
          <a:prstGeom prst="rect">
            <a:avLst/>
          </a:prstGeom>
          <a:solidFill>
            <a:srgbClr val="FEF0E6"/>
          </a:solidFill>
          <a:ln w="12700">
            <a:solidFill>
              <a:srgbClr val="E569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3" name="Shape 38">
            <a:extLst>
              <a:ext uri="{FF2B5EF4-FFF2-40B4-BE49-F238E27FC236}">
                <a16:creationId xmlns:a16="http://schemas.microsoft.com/office/drawing/2014/main" id="{1D161B78-2800-4C40-7217-B0D9EA30396A}"/>
              </a:ext>
            </a:extLst>
          </p:cNvPr>
          <p:cNvSpPr/>
          <p:nvPr/>
        </p:nvSpPr>
        <p:spPr>
          <a:xfrm>
            <a:off x="484632" y="5317998"/>
            <a:ext cx="45720" cy="804672"/>
          </a:xfrm>
          <a:prstGeom prst="rect">
            <a:avLst/>
          </a:prstGeom>
          <a:solidFill>
            <a:srgbClr val="E56910"/>
          </a:solidFill>
          <a:ln w="12700">
            <a:solidFill>
              <a:srgbClr val="E569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4" name="Text 39">
            <a:extLst>
              <a:ext uri="{FF2B5EF4-FFF2-40B4-BE49-F238E27FC236}">
                <a16:creationId xmlns:a16="http://schemas.microsoft.com/office/drawing/2014/main" id="{43356F0F-B171-B5CD-E46D-BD756A0A1545}"/>
              </a:ext>
            </a:extLst>
          </p:cNvPr>
          <p:cNvSpPr/>
          <p:nvPr/>
        </p:nvSpPr>
        <p:spPr>
          <a:xfrm>
            <a:off x="594360" y="536371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5691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⚠  RESOLUTION CHALLENGES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5" name="Text 40">
            <a:extLst>
              <a:ext uri="{FF2B5EF4-FFF2-40B4-BE49-F238E27FC236}">
                <a16:creationId xmlns:a16="http://schemas.microsoft.com/office/drawing/2014/main" id="{39E3D69C-52A8-B15D-EB26-21AB4F7168CB}"/>
              </a:ext>
            </a:extLst>
          </p:cNvPr>
          <p:cNvSpPr/>
          <p:nvPr/>
        </p:nvSpPr>
        <p:spPr>
          <a:xfrm>
            <a:off x="594360" y="558317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5691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2.7KV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 ≠ catalog format  • 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5691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3/8-16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 ambiguous  •  Suffix variant (S5 vs A5)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7" name="Shape 41">
            <a:extLst>
              <a:ext uri="{FF2B5EF4-FFF2-40B4-BE49-F238E27FC236}">
                <a16:creationId xmlns:a16="http://schemas.microsoft.com/office/drawing/2014/main" id="{9F5F0B90-F6DE-4DF3-A42F-F0B7EE1A6700}"/>
              </a:ext>
            </a:extLst>
          </p:cNvPr>
          <p:cNvSpPr/>
          <p:nvPr/>
        </p:nvSpPr>
        <p:spPr>
          <a:xfrm>
            <a:off x="4005072" y="2739390"/>
            <a:ext cx="416052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8" name="Shape 42">
            <a:extLst>
              <a:ext uri="{FF2B5EF4-FFF2-40B4-BE49-F238E27FC236}">
                <a16:creationId xmlns:a16="http://schemas.microsoft.com/office/drawing/2014/main" id="{1F62A5E8-909C-3D71-5800-B4700739F71D}"/>
              </a:ext>
            </a:extLst>
          </p:cNvPr>
          <p:cNvSpPr/>
          <p:nvPr/>
        </p:nvSpPr>
        <p:spPr>
          <a:xfrm>
            <a:off x="4005072" y="2739390"/>
            <a:ext cx="4160520" cy="384048"/>
          </a:xfrm>
          <a:prstGeom prst="rect">
            <a:avLst/>
          </a:prstGeom>
          <a:solidFill>
            <a:srgbClr val="E56910"/>
          </a:solidFill>
          <a:ln w="12700">
            <a:solidFill>
              <a:srgbClr val="E569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A1505777-2944-BD77-7601-B84CC8833B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2232" y="2830830"/>
            <a:ext cx="201168" cy="201168"/>
          </a:xfrm>
          <a:prstGeom prst="rect">
            <a:avLst/>
          </a:prstGeom>
        </p:spPr>
      </p:pic>
      <p:sp>
        <p:nvSpPr>
          <p:cNvPr id="60" name="Text 43">
            <a:extLst>
              <a:ext uri="{FF2B5EF4-FFF2-40B4-BE49-F238E27FC236}">
                <a16:creationId xmlns:a16="http://schemas.microsoft.com/office/drawing/2014/main" id="{5A48C659-F0A9-55A0-AF2F-C5575EDD3D69}"/>
              </a:ext>
            </a:extLst>
          </p:cNvPr>
          <p:cNvSpPr/>
          <p:nvPr/>
        </p:nvSpPr>
        <p:spPr>
          <a:xfrm>
            <a:off x="4425696" y="283083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AI RESOLUTION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1" name="Shape 44">
            <a:extLst>
              <a:ext uri="{FF2B5EF4-FFF2-40B4-BE49-F238E27FC236}">
                <a16:creationId xmlns:a16="http://schemas.microsoft.com/office/drawing/2014/main" id="{EC77DD62-4AB6-D6E3-3341-E472D8E9170D}"/>
              </a:ext>
            </a:extLst>
          </p:cNvPr>
          <p:cNvSpPr/>
          <p:nvPr/>
        </p:nvSpPr>
        <p:spPr>
          <a:xfrm>
            <a:off x="4169664" y="3306318"/>
            <a:ext cx="310896" cy="310896"/>
          </a:xfrm>
          <a:prstGeom prst="ellipse">
            <a:avLst/>
          </a:prstGeom>
          <a:solidFill>
            <a:srgbClr val="EAF3F8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62" name="Image 5" descr="preencoded.png">
            <a:extLst>
              <a:ext uri="{FF2B5EF4-FFF2-40B4-BE49-F238E27FC236}">
                <a16:creationId xmlns:a16="http://schemas.microsoft.com/office/drawing/2014/main" id="{E37D9E9D-2072-730F-3FAE-CE99C7B4F3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65915"/>
            <a:ext cx="201168" cy="201168"/>
          </a:xfrm>
          <a:prstGeom prst="rect">
            <a:avLst/>
          </a:prstGeom>
        </p:spPr>
      </p:pic>
      <p:sp>
        <p:nvSpPr>
          <p:cNvPr id="64" name="Text 45">
            <a:extLst>
              <a:ext uri="{FF2B5EF4-FFF2-40B4-BE49-F238E27FC236}">
                <a16:creationId xmlns:a16="http://schemas.microsoft.com/office/drawing/2014/main" id="{6E148075-51D2-633E-4B57-6083882547D9}"/>
              </a:ext>
            </a:extLst>
          </p:cNvPr>
          <p:cNvSpPr/>
          <p:nvPr/>
        </p:nvSpPr>
        <p:spPr>
          <a:xfrm>
            <a:off x="4590288" y="330631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Token Extraction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6" name="Text 46">
            <a:extLst>
              <a:ext uri="{FF2B5EF4-FFF2-40B4-BE49-F238E27FC236}">
                <a16:creationId xmlns:a16="http://schemas.microsoft.com/office/drawing/2014/main" id="{FC0019E5-9E1F-9AAD-8CE3-62AAC9D766B1}"/>
              </a:ext>
            </a:extLst>
          </p:cNvPr>
          <p:cNvSpPr/>
          <p:nvPr/>
        </p:nvSpPr>
        <p:spPr>
          <a:xfrm>
            <a:off x="4590288" y="351663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Parses email into structured attributes: product type, voltage, thread spec, vendor, model number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8" name="Shape 47">
            <a:extLst>
              <a:ext uri="{FF2B5EF4-FFF2-40B4-BE49-F238E27FC236}">
                <a16:creationId xmlns:a16="http://schemas.microsoft.com/office/drawing/2014/main" id="{E27CF68A-5C67-1B7F-AB4B-7B9067C69FE5}"/>
              </a:ext>
            </a:extLst>
          </p:cNvPr>
          <p:cNvSpPr/>
          <p:nvPr/>
        </p:nvSpPr>
        <p:spPr>
          <a:xfrm>
            <a:off x="4306824" y="3653790"/>
            <a:ext cx="27432" cy="310896"/>
          </a:xfrm>
          <a:prstGeom prst="rect">
            <a:avLst/>
          </a:prstGeom>
          <a:solidFill>
            <a:srgbClr val="C5DDE9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0" name="Shape 48">
            <a:extLst>
              <a:ext uri="{FF2B5EF4-FFF2-40B4-BE49-F238E27FC236}">
                <a16:creationId xmlns:a16="http://schemas.microsoft.com/office/drawing/2014/main" id="{E6690BE4-F223-F0F8-2926-56E04C670E4B}"/>
              </a:ext>
            </a:extLst>
          </p:cNvPr>
          <p:cNvSpPr/>
          <p:nvPr/>
        </p:nvSpPr>
        <p:spPr>
          <a:xfrm>
            <a:off x="4169664" y="4037838"/>
            <a:ext cx="310896" cy="310896"/>
          </a:xfrm>
          <a:prstGeom prst="ellipse">
            <a:avLst/>
          </a:prstGeom>
          <a:solidFill>
            <a:srgbClr val="FEF0E6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71" name="Image 6" descr="preencoded.png">
            <a:extLst>
              <a:ext uri="{FF2B5EF4-FFF2-40B4-BE49-F238E27FC236}">
                <a16:creationId xmlns:a16="http://schemas.microsoft.com/office/drawing/2014/main" id="{B5806108-1D4D-B3F6-154C-F83C28C2FA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24528" y="4097435"/>
            <a:ext cx="201168" cy="201168"/>
          </a:xfrm>
          <a:prstGeom prst="rect">
            <a:avLst/>
          </a:prstGeom>
        </p:spPr>
      </p:pic>
      <p:sp>
        <p:nvSpPr>
          <p:cNvPr id="72" name="Text 49">
            <a:extLst>
              <a:ext uri="{FF2B5EF4-FFF2-40B4-BE49-F238E27FC236}">
                <a16:creationId xmlns:a16="http://schemas.microsoft.com/office/drawing/2014/main" id="{278FC089-574F-247D-8578-FF8AF6DB5B8A}"/>
              </a:ext>
            </a:extLst>
          </p:cNvPr>
          <p:cNvSpPr/>
          <p:nvPr/>
        </p:nvSpPr>
        <p:spPr>
          <a:xfrm>
            <a:off x="4590288" y="403783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Unit Normalization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3" name="Text 50">
            <a:extLst>
              <a:ext uri="{FF2B5EF4-FFF2-40B4-BE49-F238E27FC236}">
                <a16:creationId xmlns:a16="http://schemas.microsoft.com/office/drawing/2014/main" id="{F972AF28-C948-FECE-8B1C-FCDCEE2A1D4D}"/>
              </a:ext>
            </a:extLst>
          </p:cNvPr>
          <p:cNvSpPr/>
          <p:nvPr/>
        </p:nvSpPr>
        <p:spPr>
          <a:xfrm>
            <a:off x="4590288" y="424815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2.7KV → 2700V  |  Resolves aliases, abbreviations &amp; measurement unit conversions automatically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4" name="Shape 51">
            <a:extLst>
              <a:ext uri="{FF2B5EF4-FFF2-40B4-BE49-F238E27FC236}">
                <a16:creationId xmlns:a16="http://schemas.microsoft.com/office/drawing/2014/main" id="{BBA002D0-A3A0-3765-3BFE-D7EA856955D6}"/>
              </a:ext>
            </a:extLst>
          </p:cNvPr>
          <p:cNvSpPr/>
          <p:nvPr/>
        </p:nvSpPr>
        <p:spPr>
          <a:xfrm>
            <a:off x="4306824" y="4385310"/>
            <a:ext cx="27432" cy="310896"/>
          </a:xfrm>
          <a:prstGeom prst="rect">
            <a:avLst/>
          </a:prstGeom>
          <a:solidFill>
            <a:srgbClr val="C5DDE9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6BE0E378-2E45-EB32-BAA8-8FFA53597FE4}"/>
              </a:ext>
            </a:extLst>
          </p:cNvPr>
          <p:cNvSpPr/>
          <p:nvPr/>
        </p:nvSpPr>
        <p:spPr>
          <a:xfrm>
            <a:off x="4169664" y="4769358"/>
            <a:ext cx="310896" cy="310896"/>
          </a:xfrm>
          <a:prstGeom prst="ellipse">
            <a:avLst/>
          </a:prstGeom>
          <a:solidFill>
            <a:srgbClr val="EAF3F8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76" name="Image 7" descr="preencoded.png">
            <a:extLst>
              <a:ext uri="{FF2B5EF4-FFF2-40B4-BE49-F238E27FC236}">
                <a16:creationId xmlns:a16="http://schemas.microsoft.com/office/drawing/2014/main" id="{CEF84767-3C47-8640-3F76-1826BD66D8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24528" y="4828955"/>
            <a:ext cx="201168" cy="201168"/>
          </a:xfrm>
          <a:prstGeom prst="rect">
            <a:avLst/>
          </a:prstGeom>
        </p:spPr>
      </p:pic>
      <p:sp>
        <p:nvSpPr>
          <p:cNvPr id="77" name="Text 53">
            <a:extLst>
              <a:ext uri="{FF2B5EF4-FFF2-40B4-BE49-F238E27FC236}">
                <a16:creationId xmlns:a16="http://schemas.microsoft.com/office/drawing/2014/main" id="{E7546D00-0A97-01A5-5A54-B6836BD34496}"/>
              </a:ext>
            </a:extLst>
          </p:cNvPr>
          <p:cNvSpPr/>
          <p:nvPr/>
        </p:nvSpPr>
        <p:spPr>
          <a:xfrm>
            <a:off x="4590288" y="476935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Fuzzy SKU Lookup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8" name="Text 54">
            <a:extLst>
              <a:ext uri="{FF2B5EF4-FFF2-40B4-BE49-F238E27FC236}">
                <a16:creationId xmlns:a16="http://schemas.microsoft.com/office/drawing/2014/main" id="{138367EA-0684-2807-C1E4-BC686D1958C4}"/>
              </a:ext>
            </a:extLst>
          </p:cNvPr>
          <p:cNvSpPr/>
          <p:nvPr/>
        </p:nvSpPr>
        <p:spPr>
          <a:xfrm>
            <a:off x="4590288" y="497967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Cross-references product master with normalized tokens; ranks candidate SKUs by match confidence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9" name="Shape 55">
            <a:extLst>
              <a:ext uri="{FF2B5EF4-FFF2-40B4-BE49-F238E27FC236}">
                <a16:creationId xmlns:a16="http://schemas.microsoft.com/office/drawing/2014/main" id="{2EA00984-90C1-346F-DE30-BBC8831EF49E}"/>
              </a:ext>
            </a:extLst>
          </p:cNvPr>
          <p:cNvSpPr/>
          <p:nvPr/>
        </p:nvSpPr>
        <p:spPr>
          <a:xfrm>
            <a:off x="4306824" y="5116830"/>
            <a:ext cx="27432" cy="310896"/>
          </a:xfrm>
          <a:prstGeom prst="rect">
            <a:avLst/>
          </a:prstGeom>
          <a:solidFill>
            <a:srgbClr val="C5DDE9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0" name="Shape 56">
            <a:extLst>
              <a:ext uri="{FF2B5EF4-FFF2-40B4-BE49-F238E27FC236}">
                <a16:creationId xmlns:a16="http://schemas.microsoft.com/office/drawing/2014/main" id="{A1E1608E-8FD3-282B-532D-407BD4779553}"/>
              </a:ext>
            </a:extLst>
          </p:cNvPr>
          <p:cNvSpPr/>
          <p:nvPr/>
        </p:nvSpPr>
        <p:spPr>
          <a:xfrm>
            <a:off x="4169664" y="5500878"/>
            <a:ext cx="310896" cy="310896"/>
          </a:xfrm>
          <a:prstGeom prst="ellipse">
            <a:avLst/>
          </a:prstGeom>
          <a:solidFill>
            <a:srgbClr val="E6F4EC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81" name="Image 8" descr="preencoded.png">
            <a:extLst>
              <a:ext uri="{FF2B5EF4-FFF2-40B4-BE49-F238E27FC236}">
                <a16:creationId xmlns:a16="http://schemas.microsoft.com/office/drawing/2014/main" id="{17B3E684-44BD-2EB1-CA41-76B345485B9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4528" y="5560475"/>
            <a:ext cx="201168" cy="201168"/>
          </a:xfrm>
          <a:prstGeom prst="rect">
            <a:avLst/>
          </a:prstGeom>
        </p:spPr>
      </p:pic>
      <p:sp>
        <p:nvSpPr>
          <p:cNvPr id="82" name="Text 57">
            <a:extLst>
              <a:ext uri="{FF2B5EF4-FFF2-40B4-BE49-F238E27FC236}">
                <a16:creationId xmlns:a16="http://schemas.microsoft.com/office/drawing/2014/main" id="{2260CE1C-782A-B885-2C35-840AA8F3C55C}"/>
              </a:ext>
            </a:extLst>
          </p:cNvPr>
          <p:cNvSpPr/>
          <p:nvPr/>
        </p:nvSpPr>
        <p:spPr>
          <a:xfrm>
            <a:off x="4590288" y="550087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Variant Disambiguation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3" name="Text 58">
            <a:extLst>
              <a:ext uri="{FF2B5EF4-FFF2-40B4-BE49-F238E27FC236}">
                <a16:creationId xmlns:a16="http://schemas.microsoft.com/office/drawing/2014/main" id="{12045F88-DB82-A1C1-BAE7-787F1EC9654E}"/>
              </a:ext>
            </a:extLst>
          </p:cNvPr>
          <p:cNvSpPr/>
          <p:nvPr/>
        </p:nvSpPr>
        <p:spPr>
          <a:xfrm>
            <a:off x="4590288" y="571119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Resolves suffix variants (S5→A5) and eliminates incorrect alternatives (M10 metric thread rejected)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4" name="Shape 59">
            <a:extLst>
              <a:ext uri="{FF2B5EF4-FFF2-40B4-BE49-F238E27FC236}">
                <a16:creationId xmlns:a16="http://schemas.microsoft.com/office/drawing/2014/main" id="{68D7D131-1D63-EBCF-483F-923F9C636416}"/>
              </a:ext>
            </a:extLst>
          </p:cNvPr>
          <p:cNvSpPr/>
          <p:nvPr/>
        </p:nvSpPr>
        <p:spPr>
          <a:xfrm>
            <a:off x="8394192" y="2739390"/>
            <a:ext cx="34472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0BF2CAF7-27DE-9A23-CA08-78424409477E}"/>
              </a:ext>
            </a:extLst>
          </p:cNvPr>
          <p:cNvSpPr/>
          <p:nvPr/>
        </p:nvSpPr>
        <p:spPr>
          <a:xfrm>
            <a:off x="8394192" y="2739390"/>
            <a:ext cx="3447288" cy="384048"/>
          </a:xfrm>
          <a:prstGeom prst="rect">
            <a:avLst/>
          </a:prstGeom>
          <a:solidFill>
            <a:srgbClr val="1A6E3C"/>
          </a:solidFill>
          <a:ln w="12700">
            <a:solidFill>
              <a:srgbClr val="1A6E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86" name="Image 9" descr="preencoded.png">
            <a:extLst>
              <a:ext uri="{FF2B5EF4-FFF2-40B4-BE49-F238E27FC236}">
                <a16:creationId xmlns:a16="http://schemas.microsoft.com/office/drawing/2014/main" id="{2766888F-1E02-AC53-7ACD-A6B1E5E55B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1352" y="2830830"/>
            <a:ext cx="201168" cy="201168"/>
          </a:xfrm>
          <a:prstGeom prst="rect">
            <a:avLst/>
          </a:prstGeom>
        </p:spPr>
      </p:pic>
      <p:sp>
        <p:nvSpPr>
          <p:cNvPr id="87" name="Text 61">
            <a:extLst>
              <a:ext uri="{FF2B5EF4-FFF2-40B4-BE49-F238E27FC236}">
                <a16:creationId xmlns:a16="http://schemas.microsoft.com/office/drawing/2014/main" id="{0E5C05BA-BAE5-67D1-5D7D-892094B3E707}"/>
              </a:ext>
            </a:extLst>
          </p:cNvPr>
          <p:cNvSpPr/>
          <p:nvPr/>
        </p:nvSpPr>
        <p:spPr>
          <a:xfrm>
            <a:off x="8814816" y="283083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RESOLVED OUTPUT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CCEE23A7-8B61-B345-911E-25EB9B991965}"/>
              </a:ext>
            </a:extLst>
          </p:cNvPr>
          <p:cNvSpPr/>
          <p:nvPr/>
        </p:nvSpPr>
        <p:spPr>
          <a:xfrm>
            <a:off x="8558784" y="3242310"/>
            <a:ext cx="3118104" cy="603504"/>
          </a:xfrm>
          <a:prstGeom prst="rect">
            <a:avLst/>
          </a:prstGeom>
          <a:solidFill>
            <a:srgbClr val="E6F4EC"/>
          </a:solidFill>
          <a:ln w="12700">
            <a:solidFill>
              <a:srgbClr val="1A6E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89" name="Text 63">
            <a:extLst>
              <a:ext uri="{FF2B5EF4-FFF2-40B4-BE49-F238E27FC236}">
                <a16:creationId xmlns:a16="http://schemas.microsoft.com/office/drawing/2014/main" id="{3FBDF9BA-DE94-FDFF-B6DF-C62E234249ED}"/>
              </a:ext>
            </a:extLst>
          </p:cNvPr>
          <p:cNvSpPr/>
          <p:nvPr/>
        </p:nvSpPr>
        <p:spPr>
          <a:xfrm>
            <a:off x="8668512" y="3297174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1A6E3C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MATCHED SKU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0" name="Text 64">
            <a:extLst>
              <a:ext uri="{FF2B5EF4-FFF2-40B4-BE49-F238E27FC236}">
                <a16:creationId xmlns:a16="http://schemas.microsoft.com/office/drawing/2014/main" id="{C5FCAE4C-057E-E522-C418-C6321456A0DB}"/>
              </a:ext>
            </a:extLst>
          </p:cNvPr>
          <p:cNvSpPr/>
          <p:nvPr/>
        </p:nvSpPr>
        <p:spPr>
          <a:xfrm>
            <a:off x="8668512" y="3489198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STAOFFR4225A5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1" name="Text 65">
            <a:extLst>
              <a:ext uri="{FF2B5EF4-FFF2-40B4-BE49-F238E27FC236}">
                <a16:creationId xmlns:a16="http://schemas.microsoft.com/office/drawing/2014/main" id="{863FB232-D0D1-20A3-BE81-18B990E5EC1C}"/>
              </a:ext>
            </a:extLst>
          </p:cNvPr>
          <p:cNvSpPr/>
          <p:nvPr/>
        </p:nvSpPr>
        <p:spPr>
          <a:xfrm>
            <a:off x="8558784" y="392811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STANDOFF, R4225, 2700V, 2.25"H, 3/8×16×9/16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2" name="Shape 66">
            <a:extLst>
              <a:ext uri="{FF2B5EF4-FFF2-40B4-BE49-F238E27FC236}">
                <a16:creationId xmlns:a16="http://schemas.microsoft.com/office/drawing/2014/main" id="{28FD12E0-B929-99E9-4F89-8F9CB262EE25}"/>
              </a:ext>
            </a:extLst>
          </p:cNvPr>
          <p:cNvSpPr/>
          <p:nvPr/>
        </p:nvSpPr>
        <p:spPr>
          <a:xfrm>
            <a:off x="8558784" y="4275582"/>
            <a:ext cx="3118104" cy="274320"/>
          </a:xfrm>
          <a:prstGeom prst="rect">
            <a:avLst/>
          </a:prstGeom>
          <a:solidFill>
            <a:srgbClr val="00466E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3" name="Text 67">
            <a:extLst>
              <a:ext uri="{FF2B5EF4-FFF2-40B4-BE49-F238E27FC236}">
                <a16:creationId xmlns:a16="http://schemas.microsoft.com/office/drawing/2014/main" id="{68D2BD67-0F2C-7A4A-428A-F1D2B49430B9}"/>
              </a:ext>
            </a:extLst>
          </p:cNvPr>
          <p:cNvSpPr/>
          <p:nvPr/>
        </p:nvSpPr>
        <p:spPr>
          <a:xfrm>
            <a:off x="8631936" y="432130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FROM EMAIL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4" name="Text 68">
            <a:extLst>
              <a:ext uri="{FF2B5EF4-FFF2-40B4-BE49-F238E27FC236}">
                <a16:creationId xmlns:a16="http://schemas.microsoft.com/office/drawing/2014/main" id="{26E5845F-975C-02A6-7EC5-7ED2EA971FB7}"/>
              </a:ext>
            </a:extLst>
          </p:cNvPr>
          <p:cNvSpPr/>
          <p:nvPr/>
        </p:nvSpPr>
        <p:spPr>
          <a:xfrm>
            <a:off x="9656064" y="432130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5" name="Text 69">
            <a:extLst>
              <a:ext uri="{FF2B5EF4-FFF2-40B4-BE49-F238E27FC236}">
                <a16:creationId xmlns:a16="http://schemas.microsoft.com/office/drawing/2014/main" id="{DA634D9F-EE15-0270-9E3A-B2DE5F4AD843}"/>
              </a:ext>
            </a:extLst>
          </p:cNvPr>
          <p:cNvSpPr/>
          <p:nvPr/>
        </p:nvSpPr>
        <p:spPr>
          <a:xfrm>
            <a:off x="9902952" y="432130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PRODUCT MASTER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6" name="Shape 70">
            <a:extLst>
              <a:ext uri="{FF2B5EF4-FFF2-40B4-BE49-F238E27FC236}">
                <a16:creationId xmlns:a16="http://schemas.microsoft.com/office/drawing/2014/main" id="{D180DA53-0EB6-7D8B-6B74-ED7383B9D341}"/>
              </a:ext>
            </a:extLst>
          </p:cNvPr>
          <p:cNvSpPr/>
          <p:nvPr/>
        </p:nvSpPr>
        <p:spPr>
          <a:xfrm>
            <a:off x="8558784" y="4549902"/>
            <a:ext cx="31181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7" name="Text 71">
            <a:extLst>
              <a:ext uri="{FF2B5EF4-FFF2-40B4-BE49-F238E27FC236}">
                <a16:creationId xmlns:a16="http://schemas.microsoft.com/office/drawing/2014/main" id="{4636EB06-F649-EBDD-307D-4F84105EEBC4}"/>
              </a:ext>
            </a:extLst>
          </p:cNvPr>
          <p:cNvSpPr/>
          <p:nvPr/>
        </p:nvSpPr>
        <p:spPr>
          <a:xfrm>
            <a:off x="8631936" y="459562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INSULATOR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8" name="Text 72">
            <a:extLst>
              <a:ext uri="{FF2B5EF4-FFF2-40B4-BE49-F238E27FC236}">
                <a16:creationId xmlns:a16="http://schemas.microsoft.com/office/drawing/2014/main" id="{57A9506E-CE2F-B72B-35A2-D3CB50B80CC1}"/>
              </a:ext>
            </a:extLst>
          </p:cNvPr>
          <p:cNvSpPr/>
          <p:nvPr/>
        </p:nvSpPr>
        <p:spPr>
          <a:xfrm>
            <a:off x="9656064" y="459562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6E3C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9" name="Text 73">
            <a:extLst>
              <a:ext uri="{FF2B5EF4-FFF2-40B4-BE49-F238E27FC236}">
                <a16:creationId xmlns:a16="http://schemas.microsoft.com/office/drawing/2014/main" id="{2F2A20FD-E6C4-924B-9CB3-890983F9EA0B}"/>
              </a:ext>
            </a:extLst>
          </p:cNvPr>
          <p:cNvSpPr/>
          <p:nvPr/>
        </p:nvSpPr>
        <p:spPr>
          <a:xfrm>
            <a:off x="9902952" y="459562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STANDOFF (Rigid Insulation)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0" name="Shape 74">
            <a:extLst>
              <a:ext uri="{FF2B5EF4-FFF2-40B4-BE49-F238E27FC236}">
                <a16:creationId xmlns:a16="http://schemas.microsoft.com/office/drawing/2014/main" id="{DD575DD3-D215-9908-D347-9624D184271A}"/>
              </a:ext>
            </a:extLst>
          </p:cNvPr>
          <p:cNvSpPr/>
          <p:nvPr/>
        </p:nvSpPr>
        <p:spPr>
          <a:xfrm>
            <a:off x="8558784" y="4824222"/>
            <a:ext cx="3118104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1" name="Text 75">
            <a:extLst>
              <a:ext uri="{FF2B5EF4-FFF2-40B4-BE49-F238E27FC236}">
                <a16:creationId xmlns:a16="http://schemas.microsoft.com/office/drawing/2014/main" id="{8CB0FF19-45CE-2EE2-E49C-CC5B204E86DD}"/>
              </a:ext>
            </a:extLst>
          </p:cNvPr>
          <p:cNvSpPr/>
          <p:nvPr/>
        </p:nvSpPr>
        <p:spPr>
          <a:xfrm>
            <a:off x="8631936" y="486994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2.7KV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2" name="Text 76">
            <a:extLst>
              <a:ext uri="{FF2B5EF4-FFF2-40B4-BE49-F238E27FC236}">
                <a16:creationId xmlns:a16="http://schemas.microsoft.com/office/drawing/2014/main" id="{918A5C3F-60C5-0549-CB5D-EA4A9C7EBF4C}"/>
              </a:ext>
            </a:extLst>
          </p:cNvPr>
          <p:cNvSpPr/>
          <p:nvPr/>
        </p:nvSpPr>
        <p:spPr>
          <a:xfrm>
            <a:off x="9656064" y="486994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5691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≡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3" name="Text 77">
            <a:extLst>
              <a:ext uri="{FF2B5EF4-FFF2-40B4-BE49-F238E27FC236}">
                <a16:creationId xmlns:a16="http://schemas.microsoft.com/office/drawing/2014/main" id="{0A2BF786-7238-60E5-D14D-9A301E625940}"/>
              </a:ext>
            </a:extLst>
          </p:cNvPr>
          <p:cNvSpPr/>
          <p:nvPr/>
        </p:nvSpPr>
        <p:spPr>
          <a:xfrm>
            <a:off x="9902952" y="486994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2700V  (unit converted)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4" name="Shape 78">
            <a:extLst>
              <a:ext uri="{FF2B5EF4-FFF2-40B4-BE49-F238E27FC236}">
                <a16:creationId xmlns:a16="http://schemas.microsoft.com/office/drawing/2014/main" id="{D47A9CE9-1222-CA5C-9136-3EC68178C957}"/>
              </a:ext>
            </a:extLst>
          </p:cNvPr>
          <p:cNvSpPr/>
          <p:nvPr/>
        </p:nvSpPr>
        <p:spPr>
          <a:xfrm>
            <a:off x="8558784" y="5098542"/>
            <a:ext cx="31181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5" name="Text 79">
            <a:extLst>
              <a:ext uri="{FF2B5EF4-FFF2-40B4-BE49-F238E27FC236}">
                <a16:creationId xmlns:a16="http://schemas.microsoft.com/office/drawing/2014/main" id="{F1335BDE-6E9D-3D2D-5226-B90898A25471}"/>
              </a:ext>
            </a:extLst>
          </p:cNvPr>
          <p:cNvSpPr/>
          <p:nvPr/>
        </p:nvSpPr>
        <p:spPr>
          <a:xfrm>
            <a:off x="8631936" y="514426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3/8-16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6" name="Text 80">
            <a:extLst>
              <a:ext uri="{FF2B5EF4-FFF2-40B4-BE49-F238E27FC236}">
                <a16:creationId xmlns:a16="http://schemas.microsoft.com/office/drawing/2014/main" id="{2A1A34E6-3A07-38EA-4AB5-3F0A00665C0F}"/>
              </a:ext>
            </a:extLst>
          </p:cNvPr>
          <p:cNvSpPr/>
          <p:nvPr/>
        </p:nvSpPr>
        <p:spPr>
          <a:xfrm>
            <a:off x="9656064" y="514426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6E3C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7" name="Text 81">
            <a:extLst>
              <a:ext uri="{FF2B5EF4-FFF2-40B4-BE49-F238E27FC236}">
                <a16:creationId xmlns:a16="http://schemas.microsoft.com/office/drawing/2014/main" id="{CBF4F7CB-0AA9-7C29-D8AB-F4B800F3C146}"/>
              </a:ext>
            </a:extLst>
          </p:cNvPr>
          <p:cNvSpPr/>
          <p:nvPr/>
        </p:nvSpPr>
        <p:spPr>
          <a:xfrm>
            <a:off x="9902952" y="514426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3/8×16×9/16  (thread)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8" name="Shape 82">
            <a:extLst>
              <a:ext uri="{FF2B5EF4-FFF2-40B4-BE49-F238E27FC236}">
                <a16:creationId xmlns:a16="http://schemas.microsoft.com/office/drawing/2014/main" id="{486056AE-2A85-05D5-446B-058BD837B1C9}"/>
              </a:ext>
            </a:extLst>
          </p:cNvPr>
          <p:cNvSpPr/>
          <p:nvPr/>
        </p:nvSpPr>
        <p:spPr>
          <a:xfrm>
            <a:off x="8558784" y="5372862"/>
            <a:ext cx="3118104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9" name="Text 83">
            <a:extLst>
              <a:ext uri="{FF2B5EF4-FFF2-40B4-BE49-F238E27FC236}">
                <a16:creationId xmlns:a16="http://schemas.microsoft.com/office/drawing/2014/main" id="{9776AAAE-7A9E-C6B1-DAD2-E6AF3DE7DC74}"/>
              </a:ext>
            </a:extLst>
          </p:cNvPr>
          <p:cNvSpPr/>
          <p:nvPr/>
        </p:nvSpPr>
        <p:spPr>
          <a:xfrm>
            <a:off x="8631936" y="541858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MAR-BAL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0" name="Text 84">
            <a:extLst>
              <a:ext uri="{FF2B5EF4-FFF2-40B4-BE49-F238E27FC236}">
                <a16:creationId xmlns:a16="http://schemas.microsoft.com/office/drawing/2014/main" id="{0B8E224A-E652-A8EA-7160-C82A025FE7FF}"/>
              </a:ext>
            </a:extLst>
          </p:cNvPr>
          <p:cNvSpPr/>
          <p:nvPr/>
        </p:nvSpPr>
        <p:spPr>
          <a:xfrm>
            <a:off x="9656064" y="541858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6E3C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1" name="Text 85">
            <a:extLst>
              <a:ext uri="{FF2B5EF4-FFF2-40B4-BE49-F238E27FC236}">
                <a16:creationId xmlns:a16="http://schemas.microsoft.com/office/drawing/2014/main" id="{D6A31D8F-0500-659B-95B8-AA77080394C3}"/>
              </a:ext>
            </a:extLst>
          </p:cNvPr>
          <p:cNvSpPr/>
          <p:nvPr/>
        </p:nvSpPr>
        <p:spPr>
          <a:xfrm>
            <a:off x="9902952" y="541858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MAR-BAL INC.  (vendor)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2" name="Shape 86">
            <a:extLst>
              <a:ext uri="{FF2B5EF4-FFF2-40B4-BE49-F238E27FC236}">
                <a16:creationId xmlns:a16="http://schemas.microsoft.com/office/drawing/2014/main" id="{3D73E179-F471-7638-5B3D-EB6EB148BAAE}"/>
              </a:ext>
            </a:extLst>
          </p:cNvPr>
          <p:cNvSpPr/>
          <p:nvPr/>
        </p:nvSpPr>
        <p:spPr>
          <a:xfrm>
            <a:off x="8558784" y="5647182"/>
            <a:ext cx="31181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3" name="Text 87">
            <a:extLst>
              <a:ext uri="{FF2B5EF4-FFF2-40B4-BE49-F238E27FC236}">
                <a16:creationId xmlns:a16="http://schemas.microsoft.com/office/drawing/2014/main" id="{A7343BB6-A628-17CA-AA0F-81810270E477}"/>
              </a:ext>
            </a:extLst>
          </p:cNvPr>
          <p:cNvSpPr/>
          <p:nvPr/>
        </p:nvSpPr>
        <p:spPr>
          <a:xfrm>
            <a:off x="8631936" y="569290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onsolas" pitchFamily="34" charset="-122"/>
                <a:cs typeface="Consolas" pitchFamily="34" charset="-120"/>
              </a:rPr>
              <a:t>R4225-S5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4" name="Text 88">
            <a:extLst>
              <a:ext uri="{FF2B5EF4-FFF2-40B4-BE49-F238E27FC236}">
                <a16:creationId xmlns:a16="http://schemas.microsoft.com/office/drawing/2014/main" id="{EE2B25EA-998D-EBBE-8B96-09A743AAC2F7}"/>
              </a:ext>
            </a:extLst>
          </p:cNvPr>
          <p:cNvSpPr/>
          <p:nvPr/>
        </p:nvSpPr>
        <p:spPr>
          <a:xfrm>
            <a:off x="9656064" y="569290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7B5EA7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≈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5" name="Text 89">
            <a:extLst>
              <a:ext uri="{FF2B5EF4-FFF2-40B4-BE49-F238E27FC236}">
                <a16:creationId xmlns:a16="http://schemas.microsoft.com/office/drawing/2014/main" id="{F42ACEE6-52A6-05D2-4087-623D9F26F70F}"/>
              </a:ext>
            </a:extLst>
          </p:cNvPr>
          <p:cNvSpPr/>
          <p:nvPr/>
        </p:nvSpPr>
        <p:spPr>
          <a:xfrm>
            <a:off x="9902952" y="5692902"/>
            <a:ext cx="17556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A2B38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R4225A5  (model + variant)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6" name="Shape 90">
            <a:extLst>
              <a:ext uri="{FF2B5EF4-FFF2-40B4-BE49-F238E27FC236}">
                <a16:creationId xmlns:a16="http://schemas.microsoft.com/office/drawing/2014/main" id="{06C852ED-D964-021F-ABBD-0C32D3F417B4}"/>
              </a:ext>
            </a:extLst>
          </p:cNvPr>
          <p:cNvSpPr/>
          <p:nvPr/>
        </p:nvSpPr>
        <p:spPr>
          <a:xfrm>
            <a:off x="8558784" y="5958078"/>
            <a:ext cx="3118104" cy="256032"/>
          </a:xfrm>
          <a:prstGeom prst="rect">
            <a:avLst/>
          </a:prstGeom>
          <a:solidFill>
            <a:srgbClr val="E6F4EC"/>
          </a:solidFill>
          <a:ln w="12700">
            <a:solidFill>
              <a:srgbClr val="1A6E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7" name="Text 91">
            <a:extLst>
              <a:ext uri="{FF2B5EF4-FFF2-40B4-BE49-F238E27FC236}">
                <a16:creationId xmlns:a16="http://schemas.microsoft.com/office/drawing/2014/main" id="{71B96087-1EF6-394D-C96E-6A064FCED78D}"/>
              </a:ext>
            </a:extLst>
          </p:cNvPr>
          <p:cNvSpPr/>
          <p:nvPr/>
        </p:nvSpPr>
        <p:spPr>
          <a:xfrm>
            <a:off x="8650224" y="600379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A6E3C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✓  HIGH CONFIDENCE MATCH  ·  METRIC VARIANT REJECTED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876D7B9-48E7-0851-2DFD-5F241A4E7EFD}"/>
              </a:ext>
            </a:extLst>
          </p:cNvPr>
          <p:cNvSpPr/>
          <p:nvPr/>
        </p:nvSpPr>
        <p:spPr>
          <a:xfrm>
            <a:off x="8778240" y="1319928"/>
            <a:ext cx="3063240" cy="99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59D1931-DCA0-F42C-2DA3-AD00CC6515AE}"/>
              </a:ext>
            </a:extLst>
          </p:cNvPr>
          <p:cNvSpPr/>
          <p:nvPr/>
        </p:nvSpPr>
        <p:spPr>
          <a:xfrm>
            <a:off x="8961120" y="1389198"/>
            <a:ext cx="402336" cy="402336"/>
          </a:xfrm>
          <a:prstGeom prst="ellipse">
            <a:avLst/>
          </a:prstGeom>
          <a:solidFill>
            <a:srgbClr val="E6F4EC"/>
          </a:solidFill>
          <a:ln w="12700">
            <a:solidFill>
              <a:srgbClr val="C8D8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0E50BBAE-2A94-05ED-0AF3-B498D624480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43416" y="1471494"/>
            <a:ext cx="219456" cy="219456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04ACBDE0-0263-1DD8-4052-63193C280137}"/>
              </a:ext>
            </a:extLst>
          </p:cNvPr>
          <p:cNvSpPr/>
          <p:nvPr/>
        </p:nvSpPr>
        <p:spPr>
          <a:xfrm>
            <a:off x="9491472" y="146164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466E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3.  CONFIGURED QUOTE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AC06837-F419-E6F0-801B-163E58EE4B43}"/>
              </a:ext>
            </a:extLst>
          </p:cNvPr>
          <p:cNvSpPr/>
          <p:nvPr/>
        </p:nvSpPr>
        <p:spPr>
          <a:xfrm>
            <a:off x="8961120" y="1864686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Verified SKU returned with pricing across all requested quantities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966E9-62F1-319F-CE33-ADFF1BD5ECD1}"/>
              </a:ext>
            </a:extLst>
          </p:cNvPr>
          <p:cNvSpPr/>
          <p:nvPr/>
        </p:nvSpPr>
        <p:spPr>
          <a:xfrm>
            <a:off x="11220450" y="-7106"/>
            <a:ext cx="971550" cy="89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Option 1</a:t>
            </a:r>
          </a:p>
        </p:txBody>
      </p:sp>
    </p:spTree>
    <p:extLst>
      <p:ext uri="{BB962C8B-B14F-4D97-AF65-F5344CB8AC3E}">
        <p14:creationId xmlns:p14="http://schemas.microsoft.com/office/powerpoint/2010/main" val="381451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5DAC-4C49-2E1D-282A-EC7CE20A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6FC0840-34FB-4F19-8F47-BC572EB781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8459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FC0840-34FB-4F19-8F47-BC572EB781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FE03B0DE-ABC2-A8A9-B9D3-F65B6AAAF2AC}"/>
              </a:ext>
            </a:extLst>
          </p:cNvPr>
          <p:cNvSpPr/>
          <p:nvPr/>
        </p:nvSpPr>
        <p:spPr>
          <a:xfrm>
            <a:off x="6049694" y="5032628"/>
            <a:ext cx="979432" cy="12149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D98DC2-783D-EE65-9511-490D9C51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Intelligent Resolution </a:t>
            </a:r>
            <a:r>
              <a:rPr lang="en-US"/>
              <a:t>| Translates ambiguous customer requests into configured quotes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6C2B03-5F21-28A2-381D-E0FCB393DB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BF52A0-ACEA-34FA-F454-1EF137D0970A}"/>
              </a:ext>
            </a:extLst>
          </p:cNvPr>
          <p:cNvSpPr/>
          <p:nvPr/>
        </p:nvSpPr>
        <p:spPr>
          <a:xfrm>
            <a:off x="442911" y="1632519"/>
            <a:ext cx="3089867" cy="3413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Configuration Complexity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18BBD2-3B64-51C6-7FC1-0018CFFDCED5}"/>
              </a:ext>
            </a:extLst>
          </p:cNvPr>
          <p:cNvSpPr/>
          <p:nvPr/>
        </p:nvSpPr>
        <p:spPr>
          <a:xfrm>
            <a:off x="3735794" y="1632519"/>
            <a:ext cx="2245905" cy="34138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Define Key Inputs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5D830E5-79E1-891B-2575-B29570A2A4D0}"/>
              </a:ext>
            </a:extLst>
          </p:cNvPr>
          <p:cNvCxnSpPr>
            <a:cxnSpLocks/>
          </p:cNvCxnSpPr>
          <p:nvPr/>
        </p:nvCxnSpPr>
        <p:spPr>
          <a:xfrm>
            <a:off x="3639473" y="1632519"/>
            <a:ext cx="0" cy="446274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15693D7-8F83-9F87-F541-23EEEF31BCAB}"/>
              </a:ext>
            </a:extLst>
          </p:cNvPr>
          <p:cNvSpPr/>
          <p:nvPr/>
        </p:nvSpPr>
        <p:spPr>
          <a:xfrm>
            <a:off x="6049696" y="1632519"/>
            <a:ext cx="5744099" cy="34138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Resolution Algorithm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1B0010-8097-FFD2-CE97-48818F410D05}"/>
              </a:ext>
            </a:extLst>
          </p:cNvPr>
          <p:cNvSpPr/>
          <p:nvPr/>
        </p:nvSpPr>
        <p:spPr>
          <a:xfrm>
            <a:off x="4307570" y="2583405"/>
            <a:ext cx="1712230" cy="3756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Customer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End market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Customer importance</a:t>
            </a:r>
          </a:p>
          <a:p>
            <a:pPr>
              <a:spcBef>
                <a:spcPts val="300"/>
              </a:spcBef>
            </a:pPr>
            <a:endParaRPr lang="en-US" sz="1400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300"/>
              </a:spcBef>
            </a:pP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Product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Key material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Finish material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Thickness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Hardware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Quantity</a:t>
            </a:r>
          </a:p>
          <a:p>
            <a:pPr>
              <a:spcBef>
                <a:spcPts val="300"/>
              </a:spcBef>
            </a:pPr>
            <a:endParaRPr lang="en-US" sz="1400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300"/>
              </a:spcBef>
            </a:pP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Deal Context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Leadtime</a:t>
            </a:r>
          </a:p>
          <a:p>
            <a:pPr>
              <a:spcBef>
                <a:spcPts val="300"/>
              </a:spcBef>
            </a:pPr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Plant capacity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7C1D98-69EC-4FD4-98FD-553422CE1173}"/>
              </a:ext>
            </a:extLst>
          </p:cNvPr>
          <p:cNvSpPr/>
          <p:nvPr/>
        </p:nvSpPr>
        <p:spPr>
          <a:xfrm>
            <a:off x="6049696" y="2562648"/>
            <a:ext cx="5744098" cy="1103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F2F76-95C3-8515-4F97-E95C688381DA}"/>
              </a:ext>
            </a:extLst>
          </p:cNvPr>
          <p:cNvSpPr/>
          <p:nvPr/>
        </p:nvSpPr>
        <p:spPr>
          <a:xfrm>
            <a:off x="381000" y="1138908"/>
            <a:ext cx="3456513" cy="46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i="1">
                <a:solidFill>
                  <a:schemeClr val="tx1">
                    <a:lumMod val="90000"/>
                    <a:lumOff val="10000"/>
                  </a:schemeClr>
                </a:solidFill>
              </a:rPr>
              <a:t>EXAMPLE: Specialty Parts Manufacturer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4ADA30-E3F5-8F8A-CDDB-E92B3EA9B04B}"/>
              </a:ext>
            </a:extLst>
          </p:cNvPr>
          <p:cNvGrpSpPr/>
          <p:nvPr/>
        </p:nvGrpSpPr>
        <p:grpSpPr>
          <a:xfrm>
            <a:off x="442910" y="2583405"/>
            <a:ext cx="2895256" cy="3665786"/>
            <a:chOff x="442912" y="2431094"/>
            <a:chExt cx="2895256" cy="36657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4CDCB5-9552-8C50-A013-B27B18EF9B77}"/>
                </a:ext>
              </a:extLst>
            </p:cNvPr>
            <p:cNvSpPr/>
            <p:nvPr/>
          </p:nvSpPr>
          <p:spPr>
            <a:xfrm>
              <a:off x="493373" y="2719213"/>
              <a:ext cx="1321659" cy="33760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Key material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Finish material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Array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Aspect ratio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Thickness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Milling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Hardware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Epoxy layers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Threads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Drill cycles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Cavities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Hole types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Plated edges</a:t>
              </a:r>
            </a:p>
            <a:p>
              <a:pPr marL="285750" indent="-285750">
                <a:spcBef>
                  <a:spcPts val="6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19ABE8-3D27-B0DD-9621-88CD9728485D}"/>
                </a:ext>
              </a:extLst>
            </p:cNvPr>
            <p:cNvSpPr/>
            <p:nvPr/>
          </p:nvSpPr>
          <p:spPr>
            <a:xfrm>
              <a:off x="442912" y="2431094"/>
              <a:ext cx="1420149" cy="2717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Quote Details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B114C5-E7FE-0350-9BA9-F60645CCA2EB}"/>
                </a:ext>
              </a:extLst>
            </p:cNvPr>
            <p:cNvSpPr/>
            <p:nvPr/>
          </p:nvSpPr>
          <p:spPr>
            <a:xfrm>
              <a:off x="1928534" y="2720835"/>
              <a:ext cx="1409634" cy="3376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Bind cycles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Scoring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Tolerance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Solder mask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Color mask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Vacuum seal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Sub-assembly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Finish thickness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Stiffener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Hole types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Counter bore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Quantity breaks</a:t>
              </a:r>
            </a:p>
            <a:p>
              <a:pPr marL="171450" indent="-171450">
                <a:spcBef>
                  <a:spcPts val="3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Rush order</a:t>
              </a:r>
            </a:p>
            <a:p>
              <a:pPr marL="285750" indent="-285750">
                <a:spcBef>
                  <a:spcPts val="6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spcBef>
                  <a:spcPts val="6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spcBef>
                  <a:spcPts val="6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spcBef>
                  <a:spcPts val="600"/>
                </a:spcBef>
                <a:buClr>
                  <a:schemeClr val="tx1">
                    <a:lumMod val="90000"/>
                    <a:lumOff val="10000"/>
                  </a:schemeClr>
                </a:buClr>
                <a:buFont typeface="Arial Narrow" panose="020B0606020202030204" pitchFamily="34" charset="0"/>
                <a:buChar char="−"/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88D71D7-BD8A-8C63-B36E-956A9E9748AF}"/>
              </a:ext>
            </a:extLst>
          </p:cNvPr>
          <p:cNvSpPr txBox="1">
            <a:spLocks/>
          </p:cNvSpPr>
          <p:nvPr/>
        </p:nvSpPr>
        <p:spPr>
          <a:xfrm>
            <a:off x="442910" y="1997301"/>
            <a:ext cx="3089868" cy="527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>
                <a:solidFill>
                  <a:schemeClr val="tx1">
                    <a:lumMod val="90000"/>
                    <a:lumOff val="10000"/>
                  </a:schemeClr>
                </a:solidFill>
              </a:rPr>
              <a:t>Existing logic overcomplicates configuration without improving quality of recommendation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1B868-4FF9-FCE7-AED5-3128105F81C3}"/>
              </a:ext>
            </a:extLst>
          </p:cNvPr>
          <p:cNvSpPr txBox="1">
            <a:spLocks/>
          </p:cNvSpPr>
          <p:nvPr/>
        </p:nvSpPr>
        <p:spPr>
          <a:xfrm>
            <a:off x="3735797" y="2001482"/>
            <a:ext cx="2245902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We use data science to identify key value drivers</a:t>
            </a:r>
          </a:p>
        </p:txBody>
      </p:sp>
      <p:pic>
        <p:nvPicPr>
          <p:cNvPr id="24" name="Graphic 23" descr="Clipboard Checked outline">
            <a:extLst>
              <a:ext uri="{FF2B5EF4-FFF2-40B4-BE49-F238E27FC236}">
                <a16:creationId xmlns:a16="http://schemas.microsoft.com/office/drawing/2014/main" id="{5FD00E96-8977-DE1A-0F16-D4363AE2C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8261" y="5395120"/>
            <a:ext cx="457200" cy="457200"/>
          </a:xfrm>
          <a:prstGeom prst="rect">
            <a:avLst/>
          </a:prstGeom>
        </p:spPr>
      </p:pic>
      <p:pic>
        <p:nvPicPr>
          <p:cNvPr id="32" name="Graphic 31" descr="Search Inventory outline">
            <a:extLst>
              <a:ext uri="{FF2B5EF4-FFF2-40B4-BE49-F238E27FC236}">
                <a16:creationId xmlns:a16="http://schemas.microsoft.com/office/drawing/2014/main" id="{23A17949-5A4E-4F70-1386-18DFA2780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2640" y="3624521"/>
            <a:ext cx="457200" cy="457200"/>
          </a:xfrm>
          <a:prstGeom prst="rect">
            <a:avLst/>
          </a:prstGeom>
        </p:spPr>
      </p:pic>
      <p:pic>
        <p:nvPicPr>
          <p:cNvPr id="35" name="Graphic 34" descr="Target Audience outline">
            <a:extLst>
              <a:ext uri="{FF2B5EF4-FFF2-40B4-BE49-F238E27FC236}">
                <a16:creationId xmlns:a16="http://schemas.microsoft.com/office/drawing/2014/main" id="{5340E1D7-EE80-1E0D-CB27-2CD47D562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8719" y="2594350"/>
            <a:ext cx="457200" cy="457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EDAC4D1-4555-1E90-4B7C-634587A90123}"/>
              </a:ext>
            </a:extLst>
          </p:cNvPr>
          <p:cNvSpPr txBox="1">
            <a:spLocks/>
          </p:cNvSpPr>
          <p:nvPr/>
        </p:nvSpPr>
        <p:spPr>
          <a:xfrm>
            <a:off x="6049696" y="2001164"/>
            <a:ext cx="5744098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And translate ambiguous customer requests into configured quotes; facilitating iteration where additional context is needed 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5B9B92E1-C1F9-EA14-C103-94A42CFBADB1}"/>
              </a:ext>
            </a:extLst>
          </p:cNvPr>
          <p:cNvSpPr/>
          <p:nvPr/>
        </p:nvSpPr>
        <p:spPr>
          <a:xfrm rot="5400000">
            <a:off x="5691393" y="2920950"/>
            <a:ext cx="1696037" cy="9794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670588FD-1B9A-AAB0-5FB5-1D0E72BD00E6}"/>
              </a:ext>
            </a:extLst>
          </p:cNvPr>
          <p:cNvSpPr/>
          <p:nvPr/>
        </p:nvSpPr>
        <p:spPr>
          <a:xfrm>
            <a:off x="7121712" y="2671618"/>
            <a:ext cx="4333615" cy="11210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“We are looking for pricing for a prototype build of an IC substrate for a new semiconductor package program.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Please see the preliminary requirements in the attached file.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25282A">
                    <a:lumMod val="90000"/>
                    <a:lumOff val="10000"/>
                  </a:srgbClr>
                </a:solidFill>
                <a:latin typeface="Arial Narrow"/>
                <a:ea typeface="Calibri" pitchFamily="34" charset="-122"/>
                <a:cs typeface="Calibri" pitchFamily="34" charset="-120"/>
              </a:rPr>
              <a:t>Preferred delivery in 4-5 weeks.”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25282A">
                  <a:lumMod val="90000"/>
                  <a:lumOff val="10000"/>
                </a:srgbClr>
              </a:solidFill>
              <a:effectLst/>
              <a:uLnTx/>
              <a:uFillTx/>
              <a:latin typeface="Arial Narrow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1" name="Graphic 50" descr="Paperclip outline">
            <a:extLst>
              <a:ext uri="{FF2B5EF4-FFF2-40B4-BE49-F238E27FC236}">
                <a16:creationId xmlns:a16="http://schemas.microsoft.com/office/drawing/2014/main" id="{2C70DCFC-83CD-84F7-4277-F0F85ADBE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8193" y="2644960"/>
            <a:ext cx="420421" cy="420421"/>
          </a:xfrm>
          <a:prstGeom prst="rect">
            <a:avLst/>
          </a:prstGeom>
        </p:spPr>
      </p:pic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437CDADE-B0AE-8348-5E97-63221286C17A}"/>
              </a:ext>
            </a:extLst>
          </p:cNvPr>
          <p:cNvSpPr/>
          <p:nvPr/>
        </p:nvSpPr>
        <p:spPr>
          <a:xfrm rot="5400000">
            <a:off x="5691390" y="4135227"/>
            <a:ext cx="1696040" cy="979432"/>
          </a:xfrm>
          <a:prstGeom prst="chevron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11B425A-C091-1C3D-5BCF-1374C30A0457}"/>
              </a:ext>
            </a:extLst>
          </p:cNvPr>
          <p:cNvSpPr/>
          <p:nvPr/>
        </p:nvSpPr>
        <p:spPr>
          <a:xfrm>
            <a:off x="6018824" y="3000557"/>
            <a:ext cx="1061696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Inbound Request</a:t>
            </a: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A741DEC3-C618-DF31-67E0-06F2B692FDBC}"/>
              </a:ext>
            </a:extLst>
          </p:cNvPr>
          <p:cNvSpPr/>
          <p:nvPr/>
        </p:nvSpPr>
        <p:spPr>
          <a:xfrm>
            <a:off x="6018824" y="4479860"/>
            <a:ext cx="1061696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Resolution Algorithm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0154745-BD79-F3F6-8407-3CBF795C3E5B}"/>
              </a:ext>
            </a:extLst>
          </p:cNvPr>
          <p:cNvCxnSpPr/>
          <p:nvPr/>
        </p:nvCxnSpPr>
        <p:spPr>
          <a:xfrm flipV="1">
            <a:off x="7080520" y="3795973"/>
            <a:ext cx="467809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54A602-5AAE-0EF7-509E-8D5D5F0A5298}"/>
              </a:ext>
            </a:extLst>
          </p:cNvPr>
          <p:cNvCxnSpPr/>
          <p:nvPr/>
        </p:nvCxnSpPr>
        <p:spPr>
          <a:xfrm flipV="1">
            <a:off x="7070258" y="5032628"/>
            <a:ext cx="467809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17">
            <a:extLst>
              <a:ext uri="{FF2B5EF4-FFF2-40B4-BE49-F238E27FC236}">
                <a16:creationId xmlns:a16="http://schemas.microsoft.com/office/drawing/2014/main" id="{1EDDC59D-359A-1AB3-36D6-F4021DD3C1A5}"/>
              </a:ext>
            </a:extLst>
          </p:cNvPr>
          <p:cNvSpPr/>
          <p:nvPr/>
        </p:nvSpPr>
        <p:spPr>
          <a:xfrm>
            <a:off x="6008562" y="5670107"/>
            <a:ext cx="1061696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Confidence Score</a:t>
            </a: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C507FC28-AF78-9071-105C-E88A4F753886}"/>
              </a:ext>
            </a:extLst>
          </p:cNvPr>
          <p:cNvSpPr/>
          <p:nvPr/>
        </p:nvSpPr>
        <p:spPr>
          <a:xfrm>
            <a:off x="7104306" y="4200430"/>
            <a:ext cx="979432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Token Extraction</a:t>
            </a:r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80C6CE96-E4B6-536A-ACF7-9E15538423B2}"/>
              </a:ext>
            </a:extLst>
          </p:cNvPr>
          <p:cNvSpPr/>
          <p:nvPr/>
        </p:nvSpPr>
        <p:spPr>
          <a:xfrm>
            <a:off x="7208083" y="5425919"/>
            <a:ext cx="1233856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86%</a:t>
            </a:r>
            <a:b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</a:b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Confidence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37A56A8-B3B2-130B-F7FE-9994E8B27A29}"/>
              </a:ext>
            </a:extLst>
          </p:cNvPr>
          <p:cNvCxnSpPr/>
          <p:nvPr/>
        </p:nvCxnSpPr>
        <p:spPr>
          <a:xfrm>
            <a:off x="8448297" y="5718231"/>
            <a:ext cx="2200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17">
            <a:extLst>
              <a:ext uri="{FF2B5EF4-FFF2-40B4-BE49-F238E27FC236}">
                <a16:creationId xmlns:a16="http://schemas.microsoft.com/office/drawing/2014/main" id="{032207EB-818A-D3E2-A15F-4193DFDFD515}"/>
              </a:ext>
            </a:extLst>
          </p:cNvPr>
          <p:cNvSpPr/>
          <p:nvPr/>
        </p:nvSpPr>
        <p:spPr>
          <a:xfrm>
            <a:off x="10589808" y="5398390"/>
            <a:ext cx="1233856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98%</a:t>
            </a:r>
            <a:b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</a:b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Confidence</a:t>
            </a:r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BE19CE6C-B546-EE19-6628-6B2304F85AD0}"/>
              </a:ext>
            </a:extLst>
          </p:cNvPr>
          <p:cNvSpPr/>
          <p:nvPr/>
        </p:nvSpPr>
        <p:spPr>
          <a:xfrm>
            <a:off x="8201140" y="4200430"/>
            <a:ext cx="979432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25282A">
                    <a:lumMod val="90000"/>
                    <a:lumOff val="10000"/>
                  </a:srgbClr>
                </a:solidFill>
                <a:latin typeface="Arial Narrow"/>
                <a:ea typeface="Calibri" pitchFamily="34" charset="-122"/>
                <a:cs typeface="Calibri" pitchFamily="34" charset="-120"/>
              </a:rPr>
              <a:t>Fuzzy </a:t>
            </a:r>
            <a:br>
              <a:rPr lang="en-US" sz="1400">
                <a:solidFill>
                  <a:srgbClr val="25282A">
                    <a:lumMod val="90000"/>
                    <a:lumOff val="10000"/>
                  </a:srgbClr>
                </a:solidFill>
                <a:latin typeface="Arial Narrow"/>
                <a:ea typeface="Calibri" pitchFamily="34" charset="-122"/>
                <a:cs typeface="Calibri" pitchFamily="34" charset="-120"/>
              </a:rPr>
            </a:br>
            <a:r>
              <a:rPr lang="en-US" sz="1400">
                <a:solidFill>
                  <a:srgbClr val="25282A">
                    <a:lumMod val="90000"/>
                    <a:lumOff val="10000"/>
                  </a:srgbClr>
                </a:solidFill>
                <a:latin typeface="Arial Narrow"/>
                <a:ea typeface="Calibri" pitchFamily="34" charset="-122"/>
                <a:cs typeface="Calibri" pitchFamily="34" charset="-120"/>
              </a:rPr>
              <a:t>Match Logic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25282A">
                  <a:lumMod val="90000"/>
                  <a:lumOff val="10000"/>
                </a:srgbClr>
              </a:solidFill>
              <a:effectLst/>
              <a:uLnTx/>
              <a:uFillTx/>
              <a:latin typeface="Arial Narrow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E8FA58E3-A3A4-137F-2FDD-2878A3B2E0A6}"/>
              </a:ext>
            </a:extLst>
          </p:cNvPr>
          <p:cNvSpPr/>
          <p:nvPr/>
        </p:nvSpPr>
        <p:spPr>
          <a:xfrm>
            <a:off x="9315749" y="4200430"/>
            <a:ext cx="1198878" cy="2656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Variant Disambiguation</a:t>
            </a: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1F366A09-1950-E3C9-2C6B-EC98ABF7BD4D}"/>
              </a:ext>
            </a:extLst>
          </p:cNvPr>
          <p:cNvSpPr/>
          <p:nvPr/>
        </p:nvSpPr>
        <p:spPr>
          <a:xfrm>
            <a:off x="10589808" y="4559098"/>
            <a:ext cx="1198878" cy="265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1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Inputs Identified</a:t>
            </a: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7F2AA95D-C396-BFB9-2A90-471B29A175F4}"/>
              </a:ext>
            </a:extLst>
          </p:cNvPr>
          <p:cNvSpPr/>
          <p:nvPr/>
        </p:nvSpPr>
        <p:spPr>
          <a:xfrm>
            <a:off x="10607297" y="4034487"/>
            <a:ext cx="1198878" cy="554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360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/ </a:t>
            </a:r>
            <a:r>
              <a:rPr kumimoji="0" lang="en-US" sz="360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199D341-2B5C-DFA1-227A-0D332ECA2BF0}"/>
              </a:ext>
            </a:extLst>
          </p:cNvPr>
          <p:cNvSpPr/>
          <p:nvPr/>
        </p:nvSpPr>
        <p:spPr>
          <a:xfrm>
            <a:off x="7934539" y="4209740"/>
            <a:ext cx="333375" cy="33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+</a:t>
            </a:r>
            <a:endParaRPr kumimoji="0" lang="en-US" sz="3200" i="1" u="none" strike="noStrike" kern="1200" cap="none" spc="0" normalizeH="0" baseline="30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FA86E4A-F799-BF01-70C7-28A865DA4C82}"/>
              </a:ext>
            </a:extLst>
          </p:cNvPr>
          <p:cNvSpPr/>
          <p:nvPr/>
        </p:nvSpPr>
        <p:spPr>
          <a:xfrm>
            <a:off x="9056391" y="4200430"/>
            <a:ext cx="333375" cy="33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+</a:t>
            </a:r>
            <a:endParaRPr kumimoji="0" lang="en-US" sz="3200" i="1" u="none" strike="noStrike" kern="1200" cap="none" spc="0" normalizeH="0" baseline="30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1A281F4-06C3-C2C1-5283-788751AEBA37}"/>
              </a:ext>
            </a:extLst>
          </p:cNvPr>
          <p:cNvSpPr/>
          <p:nvPr/>
        </p:nvSpPr>
        <p:spPr>
          <a:xfrm>
            <a:off x="10423120" y="4257182"/>
            <a:ext cx="333375" cy="33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=</a:t>
            </a:r>
            <a:endParaRPr kumimoji="0" lang="en-US" sz="2800" i="1" u="none" strike="noStrike" kern="1200" cap="none" spc="0" normalizeH="0" baseline="30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pic>
        <p:nvPicPr>
          <p:cNvPr id="33" name="Graphic 32" descr="Arrow circle with solid fill">
            <a:extLst>
              <a:ext uri="{FF2B5EF4-FFF2-40B4-BE49-F238E27FC236}">
                <a16:creationId xmlns:a16="http://schemas.microsoft.com/office/drawing/2014/main" id="{D95DA048-690E-62C6-5034-9007C46F2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23073">
            <a:off x="8988119" y="5162956"/>
            <a:ext cx="1055509" cy="1055509"/>
          </a:xfrm>
          <a:prstGeom prst="rect">
            <a:avLst/>
          </a:prstGeom>
        </p:spPr>
      </p:pic>
      <p:sp>
        <p:nvSpPr>
          <p:cNvPr id="67" name="Text 17">
            <a:extLst>
              <a:ext uri="{FF2B5EF4-FFF2-40B4-BE49-F238E27FC236}">
                <a16:creationId xmlns:a16="http://schemas.microsoft.com/office/drawing/2014/main" id="{FBB266BD-A7E2-31D6-8CE5-33E604D6D017}"/>
              </a:ext>
            </a:extLst>
          </p:cNvPr>
          <p:cNvSpPr/>
          <p:nvPr/>
        </p:nvSpPr>
        <p:spPr>
          <a:xfrm>
            <a:off x="8806170" y="5586631"/>
            <a:ext cx="1441455" cy="265689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Calibri" pitchFamily="34" charset="-122"/>
                <a:cs typeface="Calibri" pitchFamily="34" charset="-120"/>
              </a:rPr>
              <a:t>User Context Iteration</a:t>
            </a:r>
          </a:p>
        </p:txBody>
      </p:sp>
    </p:spTree>
    <p:extLst>
      <p:ext uri="{BB962C8B-B14F-4D97-AF65-F5344CB8AC3E}">
        <p14:creationId xmlns:p14="http://schemas.microsoft.com/office/powerpoint/2010/main" val="145308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F477C37-98B5-30AE-D2BE-49151F10A73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46449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477C37-98B5-30AE-D2BE-49151F10A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DF43CE8-349E-7B5D-3B64-322909D2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Dynamic Model – Scenario Examples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0A7E7-9005-F1F7-1A08-CBA2BBF80C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8F715B-CD44-3F0C-5BAC-D8F04E4164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C85DE3-7C2F-04C1-84F6-6086F7D63E7D}"/>
              </a:ext>
            </a:extLst>
          </p:cNvPr>
          <p:cNvSpPr/>
          <p:nvPr/>
        </p:nvSpPr>
        <p:spPr>
          <a:xfrm>
            <a:off x="10996611" y="90720"/>
            <a:ext cx="866775" cy="89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WIP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073E777-4A58-9FFC-4005-39066BD314D9}"/>
              </a:ext>
            </a:extLst>
          </p:cNvPr>
          <p:cNvSpPr/>
          <p:nvPr/>
        </p:nvSpPr>
        <p:spPr>
          <a:xfrm>
            <a:off x="847724" y="1478350"/>
            <a:ext cx="3895725" cy="331402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Differentiated Recommendations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AFE5384-1D43-6459-1B29-E211C4307B93}"/>
              </a:ext>
            </a:extLst>
          </p:cNvPr>
          <p:cNvSpPr/>
          <p:nvPr/>
        </p:nvSpPr>
        <p:spPr>
          <a:xfrm>
            <a:off x="4652966" y="1478350"/>
            <a:ext cx="3338509" cy="33140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Feedback + Tuning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32B7C7A-5DE2-58C2-1EC7-91AF355718A7}"/>
              </a:ext>
            </a:extLst>
          </p:cNvPr>
          <p:cNvSpPr/>
          <p:nvPr/>
        </p:nvSpPr>
        <p:spPr>
          <a:xfrm>
            <a:off x="7905752" y="1478350"/>
            <a:ext cx="3438524" cy="33140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Dynamic 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AB7D9-59CB-0E08-F2C4-B7FE3F4C097C}"/>
              </a:ext>
            </a:extLst>
          </p:cNvPr>
          <p:cNvSpPr/>
          <p:nvPr/>
        </p:nvSpPr>
        <p:spPr>
          <a:xfrm>
            <a:off x="884902" y="2310034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A: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FDD3EA-CA58-E1AB-CEDE-C623BB42A26A}"/>
              </a:ext>
            </a:extLst>
          </p:cNvPr>
          <p:cNvSpPr/>
          <p:nvPr/>
        </p:nvSpPr>
        <p:spPr>
          <a:xfrm>
            <a:off x="2781301" y="4242973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$16.73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2A8DBA-7DE3-72FD-D7BA-ABE77A47F0DB}"/>
              </a:ext>
            </a:extLst>
          </p:cNvPr>
          <p:cNvSpPr/>
          <p:nvPr/>
        </p:nvSpPr>
        <p:spPr>
          <a:xfrm>
            <a:off x="884902" y="2740530"/>
            <a:ext cx="2915573" cy="11540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Specialized Product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High Product Mix 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Industrial End Market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40% Win Rate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48ED2D-CBEC-01AB-4631-C1B5F0F0AD29}"/>
              </a:ext>
            </a:extLst>
          </p:cNvPr>
          <p:cNvSpPr/>
          <p:nvPr/>
        </p:nvSpPr>
        <p:spPr>
          <a:xfrm>
            <a:off x="884902" y="4683013"/>
            <a:ext cx="1896399" cy="11540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Specialized Product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Low Product Mix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Healthcare End Market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40% Win Rate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995B2A-8D09-2733-E91B-C575635317DF}"/>
              </a:ext>
            </a:extLst>
          </p:cNvPr>
          <p:cNvSpPr/>
          <p:nvPr/>
        </p:nvSpPr>
        <p:spPr>
          <a:xfrm>
            <a:off x="2781301" y="2310034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$17.96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EA03F5-31A0-D4EF-673D-488724FDC9BB}"/>
              </a:ext>
            </a:extLst>
          </p:cNvPr>
          <p:cNvSpPr/>
          <p:nvPr/>
        </p:nvSpPr>
        <p:spPr>
          <a:xfrm>
            <a:off x="884902" y="4251623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B: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BC692A-4E28-DAD3-A27C-930E7B818415}"/>
              </a:ext>
            </a:extLst>
          </p:cNvPr>
          <p:cNvSpPr/>
          <p:nvPr/>
        </p:nvSpPr>
        <p:spPr>
          <a:xfrm>
            <a:off x="4557716" y="1928689"/>
            <a:ext cx="1635540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Market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A73878-0493-D455-1585-D661992B8298}"/>
              </a:ext>
            </a:extLst>
          </p:cNvPr>
          <p:cNvSpPr/>
          <p:nvPr/>
        </p:nvSpPr>
        <p:spPr>
          <a:xfrm>
            <a:off x="4591428" y="2324651"/>
            <a:ext cx="1635539" cy="6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Volume: </a:t>
            </a:r>
            <a:r>
              <a:rPr lang="en-US" sz="1600">
                <a:solidFill>
                  <a:schemeClr val="tx2">
                    <a:lumMod val="50000"/>
                    <a:lumOff val="50000"/>
                  </a:schemeClr>
                </a:solidFill>
              </a:rPr>
              <a:t>Flat</a:t>
            </a:r>
          </a:p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Win-Rate: </a:t>
            </a:r>
            <a:r>
              <a:rPr lang="en-US" sz="1600">
                <a:solidFill>
                  <a:schemeClr val="accent4"/>
                </a:solidFill>
              </a:rPr>
              <a:t>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84A1B0-A452-1468-0307-5BB152CEC74E}"/>
              </a:ext>
            </a:extLst>
          </p:cNvPr>
          <p:cNvSpPr/>
          <p:nvPr/>
        </p:nvSpPr>
        <p:spPr>
          <a:xfrm>
            <a:off x="6226970" y="1928689"/>
            <a:ext cx="1493420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Adjustment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4D80AB-A101-5BF2-A980-3AA4BCBEB11F}"/>
              </a:ext>
            </a:extLst>
          </p:cNvPr>
          <p:cNvSpPr/>
          <p:nvPr/>
        </p:nvSpPr>
        <p:spPr>
          <a:xfrm>
            <a:off x="4591429" y="4214927"/>
            <a:ext cx="1635539" cy="6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Volume: 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Down</a:t>
            </a:r>
          </a:p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Win-Rate: 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Down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04694B-7E50-8A9D-6E82-0F383FEA7FD5}"/>
              </a:ext>
            </a:extLst>
          </p:cNvPr>
          <p:cNvSpPr/>
          <p:nvPr/>
        </p:nvSpPr>
        <p:spPr>
          <a:xfrm>
            <a:off x="884902" y="1928689"/>
            <a:ext cx="1635540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Inputs / Segment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9CB2C-5A81-41F5-04DF-B7FEF2AD87B7}"/>
              </a:ext>
            </a:extLst>
          </p:cNvPr>
          <p:cNvSpPr/>
          <p:nvPr/>
        </p:nvSpPr>
        <p:spPr>
          <a:xfrm>
            <a:off x="6487827" y="2315677"/>
            <a:ext cx="1322675" cy="6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++</a:t>
            </a:r>
            <a:endParaRPr lang="en-US" sz="2800">
              <a:solidFill>
                <a:schemeClr val="accent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B6598-2AB4-7C23-FAFD-BA454B5F69BF}"/>
              </a:ext>
            </a:extLst>
          </p:cNvPr>
          <p:cNvSpPr/>
          <p:nvPr/>
        </p:nvSpPr>
        <p:spPr>
          <a:xfrm>
            <a:off x="6487826" y="4161581"/>
            <a:ext cx="1322675" cy="6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lang="en-US" sz="2800">
              <a:solidFill>
                <a:schemeClr val="accent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81AE5F-ED2D-0F57-BF36-55DF1AADC41B}"/>
              </a:ext>
            </a:extLst>
          </p:cNvPr>
          <p:cNvSpPr/>
          <p:nvPr/>
        </p:nvSpPr>
        <p:spPr>
          <a:xfrm>
            <a:off x="8025983" y="2310034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A2: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B57FB5-A2CA-4B28-D923-ED8EB98DA1D6}"/>
              </a:ext>
            </a:extLst>
          </p:cNvPr>
          <p:cNvSpPr/>
          <p:nvPr/>
        </p:nvSpPr>
        <p:spPr>
          <a:xfrm>
            <a:off x="9922382" y="4242973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$14.89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35C438-1F2F-2659-320E-715D88E69461}"/>
              </a:ext>
            </a:extLst>
          </p:cNvPr>
          <p:cNvSpPr/>
          <p:nvPr/>
        </p:nvSpPr>
        <p:spPr>
          <a:xfrm>
            <a:off x="8025983" y="2740530"/>
            <a:ext cx="2915573" cy="11540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Specialized Product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High Product Mix 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Industrial End Market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43% Win Rate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D7D57B-8D50-C08F-106F-59497E0743C9}"/>
              </a:ext>
            </a:extLst>
          </p:cNvPr>
          <p:cNvSpPr/>
          <p:nvPr/>
        </p:nvSpPr>
        <p:spPr>
          <a:xfrm>
            <a:off x="8025983" y="4602836"/>
            <a:ext cx="1896399" cy="1340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Specialized Product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Low Product Mix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Healthcare End Market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38% Win Rate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3E243C-1141-04E8-264D-EB04B2B4217E}"/>
              </a:ext>
            </a:extLst>
          </p:cNvPr>
          <p:cNvSpPr/>
          <p:nvPr/>
        </p:nvSpPr>
        <p:spPr>
          <a:xfrm>
            <a:off x="9922382" y="2310034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$19.24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F4FDB6-C0B1-C7E3-827F-DB9B995A0676}"/>
              </a:ext>
            </a:extLst>
          </p:cNvPr>
          <p:cNvSpPr/>
          <p:nvPr/>
        </p:nvSpPr>
        <p:spPr>
          <a:xfrm>
            <a:off x="8025983" y="4251623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B2: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0115F5-BC06-1100-4B31-FCF4327B2173}"/>
              </a:ext>
            </a:extLst>
          </p:cNvPr>
          <p:cNvCxnSpPr>
            <a:cxnSpLocks/>
          </p:cNvCxnSpPr>
          <p:nvPr/>
        </p:nvCxnSpPr>
        <p:spPr>
          <a:xfrm>
            <a:off x="884902" y="4118833"/>
            <a:ext cx="1032602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D75BE8-62E2-AC05-C1BB-24B9F453A6A8}"/>
              </a:ext>
            </a:extLst>
          </p:cNvPr>
          <p:cNvCxnSpPr>
            <a:cxnSpLocks/>
          </p:cNvCxnSpPr>
          <p:nvPr/>
        </p:nvCxnSpPr>
        <p:spPr>
          <a:xfrm>
            <a:off x="920707" y="2224764"/>
            <a:ext cx="1029021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1D745F2-40F7-63B8-2511-D62F4E10173E}"/>
              </a:ext>
            </a:extLst>
          </p:cNvPr>
          <p:cNvSpPr/>
          <p:nvPr/>
        </p:nvSpPr>
        <p:spPr>
          <a:xfrm>
            <a:off x="8025983" y="1928689"/>
            <a:ext cx="1635540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Inputs / Segment</a:t>
            </a:r>
          </a:p>
        </p:txBody>
      </p:sp>
    </p:spTree>
    <p:extLst>
      <p:ext uri="{BB962C8B-B14F-4D97-AF65-F5344CB8AC3E}">
        <p14:creationId xmlns:p14="http://schemas.microsoft.com/office/powerpoint/2010/main" val="394158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73FF769-0152-5275-1389-59E353BAE0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027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3FF769-0152-5275-1389-59E353BA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D849C33-A9A9-9EF3-E3DF-BA1B03B8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AI Techniques </a:t>
            </a:r>
            <a:r>
              <a:rPr lang="en-US"/>
              <a:t>| ML and Gen AI play different roles in a complete pricing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517D4-04FE-0809-4D11-1FCD70D162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F07858-CE3C-388A-09DA-E27391C4F8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E27A-C164-435E-F991-4B06766B6FB6}"/>
              </a:ext>
            </a:extLst>
          </p:cNvPr>
          <p:cNvSpPr/>
          <p:nvPr/>
        </p:nvSpPr>
        <p:spPr>
          <a:xfrm>
            <a:off x="2947040" y="2039038"/>
            <a:ext cx="3806190" cy="4095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 Learning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18E7D9-3076-772A-1277-92B16FFB9B56}"/>
              </a:ext>
            </a:extLst>
          </p:cNvPr>
          <p:cNvSpPr/>
          <p:nvPr/>
        </p:nvSpPr>
        <p:spPr>
          <a:xfrm>
            <a:off x="7086604" y="2039038"/>
            <a:ext cx="3806186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Generative AI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74AA0F-BB52-7CCB-46BF-E54CA199A2A1}"/>
              </a:ext>
            </a:extLst>
          </p:cNvPr>
          <p:cNvGrpSpPr/>
          <p:nvPr/>
        </p:nvGrpSpPr>
        <p:grpSpPr>
          <a:xfrm>
            <a:off x="6691316" y="1986651"/>
            <a:ext cx="457198" cy="476250"/>
            <a:chOff x="1257488" y="5333332"/>
            <a:chExt cx="333375" cy="39785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7171D1-F04C-6C3B-EFF1-87D8EA371F7B}"/>
                </a:ext>
              </a:extLst>
            </p:cNvPr>
            <p:cNvSpPr/>
            <p:nvPr/>
          </p:nvSpPr>
          <p:spPr>
            <a:xfrm>
              <a:off x="1257488" y="5349246"/>
              <a:ext cx="333375" cy="3819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A6D5EB-93A2-64E8-4A26-CE5BA90989DD}"/>
                </a:ext>
              </a:extLst>
            </p:cNvPr>
            <p:cNvSpPr/>
            <p:nvPr/>
          </p:nvSpPr>
          <p:spPr>
            <a:xfrm>
              <a:off x="1257488" y="5333332"/>
              <a:ext cx="333375" cy="331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i="1" u="none" strike="noStrike" kern="1200" cap="none" spc="0" normalizeH="0" baseline="30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i="1" u="none" strike="noStrike" kern="1200" cap="none" spc="0" normalizeH="0" baseline="3000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v.</a:t>
              </a: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AA49617-6FDA-1502-9149-DB6B899DE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89727"/>
              </p:ext>
            </p:extLst>
          </p:nvPr>
        </p:nvGraphicFramePr>
        <p:xfrm>
          <a:off x="1133475" y="2587280"/>
          <a:ext cx="9759316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154">
                  <a:extLst>
                    <a:ext uri="{9D8B030D-6E8A-4147-A177-3AD203B41FA5}">
                      <a16:colId xmlns:a16="http://schemas.microsoft.com/office/drawing/2014/main" val="3954950437"/>
                    </a:ext>
                  </a:extLst>
                </a:gridCol>
                <a:gridCol w="3955081">
                  <a:extLst>
                    <a:ext uri="{9D8B030D-6E8A-4147-A177-3AD203B41FA5}">
                      <a16:colId xmlns:a16="http://schemas.microsoft.com/office/drawing/2014/main" val="729212841"/>
                    </a:ext>
                  </a:extLst>
                </a:gridCol>
                <a:gridCol w="3955081">
                  <a:extLst>
                    <a:ext uri="{9D8B030D-6E8A-4147-A177-3AD203B41FA5}">
                      <a16:colId xmlns:a16="http://schemas.microsoft.com/office/drawing/2014/main" val="3985303847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en-US" sz="140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Structured Input Data</a:t>
                      </a:r>
                      <a:br>
                        <a:rPr lang="en-US" sz="1400"/>
                      </a:br>
                      <a:r>
                        <a:rPr lang="en-US" sz="1400"/>
                        <a:t>Transactions, discounts, customer segments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Unstructured Input Data</a:t>
                      </a:r>
                      <a:br>
                        <a:rPr lang="en-US" sz="1400"/>
                      </a:br>
                      <a:r>
                        <a:rPr lang="en-US" sz="1400"/>
                        <a:t>Works best with information like emails, notes, comments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559127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/>
                        <a:t>Core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Prediction and Forecasting</a:t>
                      </a:r>
                    </a:p>
                    <a:p>
                      <a:r>
                        <a:rPr lang="en-US" sz="1400"/>
                        <a:t>Price sensitivity, win probability, demand response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Summarization and Contextualizing</a:t>
                      </a:r>
                    </a:p>
                    <a:p>
                      <a:r>
                        <a:rPr lang="en-US" sz="1400"/>
                        <a:t>Recommendation explanations, sentiment analysis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40851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/>
                        <a:t>Logic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Deterministic and Repeatable</a:t>
                      </a:r>
                    </a:p>
                    <a:p>
                      <a:r>
                        <a:rPr lang="en-US" sz="1400" b="0"/>
                        <a:t>The same model and inputs provide the same output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Non-Deterministic</a:t>
                      </a:r>
                    </a:p>
                    <a:p>
                      <a:r>
                        <a:rPr lang="en-US" sz="1400" b="0"/>
                        <a:t>Can provide different outputs given the same input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66990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Business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Data-Driven Recommendations</a:t>
                      </a:r>
                    </a:p>
                    <a:p>
                      <a:r>
                        <a:rPr lang="en-US" sz="1400" b="0"/>
                        <a:t>Optimizes for the best output given known constraints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Natural-Language Reasoning</a:t>
                      </a:r>
                    </a:p>
                    <a:p>
                      <a:r>
                        <a:rPr lang="en-US" sz="1400" b="0"/>
                        <a:t>Supports data-driven workflows to improve usability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5760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46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BEE528-AA33-1922-DCDB-75816B4B413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5631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5" imgH="332" progId="TCLayout.ActiveDocument.1">
                  <p:embed/>
                </p:oleObj>
              </mc:Choice>
              <mc:Fallback>
                <p:oleObj name="think-cell Slide" r:id="rId3" imgW="345" imgH="332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BEE528-AA33-1922-DCDB-75816B4B41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A79B607E-B4ED-F358-B42A-8006BB375E87}"/>
              </a:ext>
            </a:extLst>
          </p:cNvPr>
          <p:cNvGrpSpPr/>
          <p:nvPr/>
        </p:nvGrpSpPr>
        <p:grpSpPr>
          <a:xfrm>
            <a:off x="783771" y="3690598"/>
            <a:ext cx="1129238" cy="1769672"/>
            <a:chOff x="783771" y="3690598"/>
            <a:chExt cx="1129238" cy="176967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7010A9-E102-6DB0-C11C-966187D5950D}"/>
                </a:ext>
              </a:extLst>
            </p:cNvPr>
            <p:cNvSpPr/>
            <p:nvPr/>
          </p:nvSpPr>
          <p:spPr>
            <a:xfrm>
              <a:off x="783771" y="3779519"/>
              <a:ext cx="1051513" cy="1680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60D94F-0E5A-8F6A-3150-3F4EE3F40578}"/>
                </a:ext>
              </a:extLst>
            </p:cNvPr>
            <p:cNvSpPr/>
            <p:nvPr/>
          </p:nvSpPr>
          <p:spPr>
            <a:xfrm>
              <a:off x="1757561" y="3690598"/>
              <a:ext cx="155448" cy="1567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3DF4A6-F79D-D8BD-376F-9CDA0AC0F2B8}"/>
                </a:ext>
              </a:extLst>
            </p:cNvPr>
            <p:cNvSpPr/>
            <p:nvPr/>
          </p:nvSpPr>
          <p:spPr>
            <a:xfrm>
              <a:off x="857762" y="4487510"/>
              <a:ext cx="915279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Revenue $</a:t>
              </a:r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E2E936A-32BF-AF95-63D6-71F6B27A3F70}"/>
              </a:ext>
            </a:extLst>
          </p:cNvPr>
          <p:cNvSpPr/>
          <p:nvPr/>
        </p:nvSpPr>
        <p:spPr>
          <a:xfrm rot="2685950">
            <a:off x="5199157" y="2560479"/>
            <a:ext cx="3754351" cy="2013609"/>
          </a:xfrm>
          <a:custGeom>
            <a:avLst/>
            <a:gdLst>
              <a:gd name="csX0" fmla="*/ 0 w 3754351"/>
              <a:gd name="csY0" fmla="*/ 1006805 h 2013609"/>
              <a:gd name="csX1" fmla="*/ 1877176 w 3754351"/>
              <a:gd name="csY1" fmla="*/ 0 h 2013609"/>
              <a:gd name="csX2" fmla="*/ 3754352 w 3754351"/>
              <a:gd name="csY2" fmla="*/ 1006805 h 2013609"/>
              <a:gd name="csX3" fmla="*/ 1877176 w 3754351"/>
              <a:gd name="csY3" fmla="*/ 2013610 h 2013609"/>
              <a:gd name="csX4" fmla="*/ 0 w 3754351"/>
              <a:gd name="csY4" fmla="*/ 1006805 h 20136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54351" h="2013609" extrusionOk="0">
                <a:moveTo>
                  <a:pt x="0" y="1006805"/>
                </a:moveTo>
                <a:cubicBezTo>
                  <a:pt x="22041" y="442948"/>
                  <a:pt x="690128" y="22391"/>
                  <a:pt x="1877176" y="0"/>
                </a:cubicBezTo>
                <a:cubicBezTo>
                  <a:pt x="2925886" y="108337"/>
                  <a:pt x="3732525" y="458550"/>
                  <a:pt x="3754352" y="1006805"/>
                </a:cubicBezTo>
                <a:cubicBezTo>
                  <a:pt x="3695653" y="1388778"/>
                  <a:pt x="2865222" y="1963762"/>
                  <a:pt x="1877176" y="2013610"/>
                </a:cubicBezTo>
                <a:cubicBezTo>
                  <a:pt x="831457" y="2004473"/>
                  <a:pt x="-32773" y="1584801"/>
                  <a:pt x="0" y="1006805"/>
                </a:cubicBezTo>
                <a:close/>
              </a:path>
            </a:pathLst>
          </a:custGeom>
          <a:noFill/>
          <a:ln w="28575"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32287070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FEA24C-CCCB-545B-97E8-74ECC6CA4A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548906">
            <a:off x="5195743" y="2528446"/>
            <a:ext cx="4269846" cy="1408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D14FD-46F2-B0F9-0273-F9452B7C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Dynamic Model |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988A9-AE2C-07A3-3D06-074D4C71B3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7B592D-3CE5-18DB-F7F1-83EE09B431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7A6A96-2C1F-1D46-ED97-C88C8726AAF3}"/>
              </a:ext>
            </a:extLst>
          </p:cNvPr>
          <p:cNvGrpSpPr/>
          <p:nvPr/>
        </p:nvGrpSpPr>
        <p:grpSpPr>
          <a:xfrm>
            <a:off x="266722" y="2007326"/>
            <a:ext cx="3800180" cy="3748364"/>
            <a:chOff x="266722" y="2007326"/>
            <a:chExt cx="3800180" cy="374836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7340B03-53C4-FA66-8766-098AC62BF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771" y="2281646"/>
              <a:ext cx="0" cy="31786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84BF177-1514-3525-4A2B-E77F199D1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771" y="5460273"/>
              <a:ext cx="3283131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3738AC-927E-BFD5-7095-29745B489F02}"/>
                </a:ext>
              </a:extLst>
            </p:cNvPr>
            <p:cNvSpPr/>
            <p:nvPr/>
          </p:nvSpPr>
          <p:spPr>
            <a:xfrm>
              <a:off x="266722" y="2007326"/>
              <a:ext cx="1051515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Price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8BBC7F-5602-FF50-4A49-903252C1CFAD}"/>
                </a:ext>
              </a:extLst>
            </p:cNvPr>
            <p:cNvSpPr/>
            <p:nvPr/>
          </p:nvSpPr>
          <p:spPr>
            <a:xfrm>
              <a:off x="1747179" y="5481370"/>
              <a:ext cx="1051515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Volume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D0798E5-CB10-BA77-0F15-7F4898ADB2D3}"/>
              </a:ext>
            </a:extLst>
          </p:cNvPr>
          <p:cNvSpPr/>
          <p:nvPr/>
        </p:nvSpPr>
        <p:spPr>
          <a:xfrm>
            <a:off x="523625" y="1505493"/>
            <a:ext cx="1749312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>
                    <a:lumMod val="90000"/>
                    <a:lumOff val="10000"/>
                  </a:schemeClr>
                </a:solidFill>
              </a:rPr>
              <a:t>Static Decision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C81F0-9F5B-7038-8B57-0DBF2D02ACAC}"/>
              </a:ext>
            </a:extLst>
          </p:cNvPr>
          <p:cNvSpPr/>
          <p:nvPr/>
        </p:nvSpPr>
        <p:spPr>
          <a:xfrm>
            <a:off x="4587618" y="1505493"/>
            <a:ext cx="2049758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>
                    <a:lumMod val="90000"/>
                    <a:lumOff val="10000"/>
                  </a:schemeClr>
                </a:solidFill>
              </a:rPr>
              <a:t>Dynamic Decision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2E2DA2-16D9-F1B5-DCD3-12B9A63FD356}"/>
              </a:ext>
            </a:extLst>
          </p:cNvPr>
          <p:cNvSpPr/>
          <p:nvPr/>
        </p:nvSpPr>
        <p:spPr>
          <a:xfrm>
            <a:off x="1913009" y="3438140"/>
            <a:ext cx="1051515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A: $17.96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1DD549-FFE2-26E8-7460-3833066CD9A8}"/>
              </a:ext>
            </a:extLst>
          </p:cNvPr>
          <p:cNvSpPr/>
          <p:nvPr/>
        </p:nvSpPr>
        <p:spPr>
          <a:xfrm>
            <a:off x="4807031" y="4876082"/>
            <a:ext cx="2651761" cy="7457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FAC2B8-D27A-93C6-E0DE-64ECB45B8D1C}"/>
              </a:ext>
            </a:extLst>
          </p:cNvPr>
          <p:cNvSpPr/>
          <p:nvPr/>
        </p:nvSpPr>
        <p:spPr>
          <a:xfrm>
            <a:off x="4807036" y="4391929"/>
            <a:ext cx="1737361" cy="12298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60AEAB-B354-A056-AA14-283107D1A0FB}"/>
              </a:ext>
            </a:extLst>
          </p:cNvPr>
          <p:cNvSpPr/>
          <p:nvPr/>
        </p:nvSpPr>
        <p:spPr>
          <a:xfrm>
            <a:off x="4809570" y="2973209"/>
            <a:ext cx="777240" cy="26342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3E3F0-B938-B73B-EAE3-22C040B79565}"/>
              </a:ext>
            </a:extLst>
          </p:cNvPr>
          <p:cNvSpPr/>
          <p:nvPr/>
        </p:nvSpPr>
        <p:spPr>
          <a:xfrm>
            <a:off x="4809568" y="3775088"/>
            <a:ext cx="1136846" cy="1846696"/>
          </a:xfrm>
          <a:prstGeom prst="rect">
            <a:avLst/>
          </a:prstGeom>
          <a:solidFill>
            <a:srgbClr val="98CEF3">
              <a:alpha val="69804"/>
            </a:srgbClr>
          </a:solidFill>
          <a:ln w="1905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49D99-D35D-7B48-0B47-CADD2E088EDA}"/>
              </a:ext>
            </a:extLst>
          </p:cNvPr>
          <p:cNvSpPr/>
          <p:nvPr/>
        </p:nvSpPr>
        <p:spPr>
          <a:xfrm>
            <a:off x="4818649" y="4636093"/>
            <a:ext cx="1127766" cy="286550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</a:rPr>
              <a:t>Revenue $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75D646-73CD-72CD-9761-5BCF19FACA8A}"/>
              </a:ext>
            </a:extLst>
          </p:cNvPr>
          <p:cNvGrpSpPr/>
          <p:nvPr/>
        </p:nvGrpSpPr>
        <p:grpSpPr>
          <a:xfrm>
            <a:off x="4222351" y="2014894"/>
            <a:ext cx="4315903" cy="3915481"/>
            <a:chOff x="266722" y="2007326"/>
            <a:chExt cx="3800180" cy="374836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2418CF-DD7B-C179-CE2C-35BE63A5A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771" y="2281646"/>
              <a:ext cx="0" cy="31786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BFCEF1-B415-4D99-F08D-D4945DEEFD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771" y="5460273"/>
              <a:ext cx="3283131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D7D01D-CCDC-1DD8-BBD7-F256E3CE2389}"/>
                </a:ext>
              </a:extLst>
            </p:cNvPr>
            <p:cNvSpPr/>
            <p:nvPr/>
          </p:nvSpPr>
          <p:spPr>
            <a:xfrm>
              <a:off x="266722" y="2007326"/>
              <a:ext cx="1051515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Price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1BC4C69-B741-5376-5656-17231880B8F8}"/>
                </a:ext>
              </a:extLst>
            </p:cNvPr>
            <p:cNvSpPr/>
            <p:nvPr/>
          </p:nvSpPr>
          <p:spPr>
            <a:xfrm>
              <a:off x="1951830" y="5481370"/>
              <a:ext cx="1051515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Volume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57AFBA9-127D-00AE-672F-3B1724E31F93}"/>
              </a:ext>
            </a:extLst>
          </p:cNvPr>
          <p:cNvSpPr/>
          <p:nvPr/>
        </p:nvSpPr>
        <p:spPr>
          <a:xfrm>
            <a:off x="6057507" y="3264737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A: $17.96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6A73D4-D0A7-B800-3181-B7FD60638B5A}"/>
              </a:ext>
            </a:extLst>
          </p:cNvPr>
          <p:cNvSpPr/>
          <p:nvPr/>
        </p:nvSpPr>
        <p:spPr>
          <a:xfrm>
            <a:off x="5491933" y="2912068"/>
            <a:ext cx="176544" cy="163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00F6B6-555B-E988-245E-7444A2459402}"/>
              </a:ext>
            </a:extLst>
          </p:cNvPr>
          <p:cNvSpPr/>
          <p:nvPr/>
        </p:nvSpPr>
        <p:spPr>
          <a:xfrm>
            <a:off x="5685241" y="2528826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A2: $19.24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EB22D98-58C5-C7A1-FA19-2F53D840B65E}"/>
              </a:ext>
            </a:extLst>
          </p:cNvPr>
          <p:cNvSpPr/>
          <p:nvPr/>
        </p:nvSpPr>
        <p:spPr>
          <a:xfrm>
            <a:off x="6445607" y="4326788"/>
            <a:ext cx="176544" cy="163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63ADEBE-C40C-89C3-9FE5-0310F5289391}"/>
              </a:ext>
            </a:extLst>
          </p:cNvPr>
          <p:cNvSpPr/>
          <p:nvPr/>
        </p:nvSpPr>
        <p:spPr>
          <a:xfrm>
            <a:off x="7338819" y="4767780"/>
            <a:ext cx="176544" cy="163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3BCC42-5092-0387-9AC1-4AB41D65DF21}"/>
              </a:ext>
            </a:extLst>
          </p:cNvPr>
          <p:cNvSpPr/>
          <p:nvPr/>
        </p:nvSpPr>
        <p:spPr>
          <a:xfrm>
            <a:off x="6653650" y="3917248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B: $16.73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E6FE7-78B0-4F6D-BCD0-4A15CBFF0E61}"/>
              </a:ext>
            </a:extLst>
          </p:cNvPr>
          <p:cNvSpPr/>
          <p:nvPr/>
        </p:nvSpPr>
        <p:spPr>
          <a:xfrm>
            <a:off x="7531810" y="4634197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B2: $14.89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E6A6AFB-6D0E-B983-95D1-FC2685DAE08F}"/>
              </a:ext>
            </a:extLst>
          </p:cNvPr>
          <p:cNvSpPr/>
          <p:nvPr/>
        </p:nvSpPr>
        <p:spPr>
          <a:xfrm>
            <a:off x="5868072" y="3698125"/>
            <a:ext cx="176544" cy="163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9AA96C-AFAA-269D-6527-CF9B5355491B}"/>
              </a:ext>
            </a:extLst>
          </p:cNvPr>
          <p:cNvSpPr/>
          <p:nvPr/>
        </p:nvSpPr>
        <p:spPr>
          <a:xfrm>
            <a:off x="5689846" y="2761123"/>
            <a:ext cx="5230147" cy="357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 | Specialized Product | 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46% Win Rate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| High Product Mix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0556C3-E1B2-2942-9EC4-173E69E55D1C}"/>
              </a:ext>
            </a:extLst>
          </p:cNvPr>
          <p:cNvSpPr/>
          <p:nvPr/>
        </p:nvSpPr>
        <p:spPr>
          <a:xfrm>
            <a:off x="6044616" y="3494552"/>
            <a:ext cx="5230147" cy="357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 | Specialized Product | 40% Win Rate | High Product Mix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C01A32A-5EAA-A378-5E66-E129AB3EFACA}"/>
              </a:ext>
            </a:extLst>
          </p:cNvPr>
          <p:cNvSpPr/>
          <p:nvPr/>
        </p:nvSpPr>
        <p:spPr>
          <a:xfrm>
            <a:off x="6688051" y="4160336"/>
            <a:ext cx="5230147" cy="357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 | 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Commodity Product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 | 40% Win Rate | Low Product Mix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06A021C-ADDF-A432-B68B-6538A4BC8895}"/>
              </a:ext>
            </a:extLst>
          </p:cNvPr>
          <p:cNvSpPr/>
          <p:nvPr/>
        </p:nvSpPr>
        <p:spPr>
          <a:xfrm>
            <a:off x="7592459" y="4865019"/>
            <a:ext cx="4467735" cy="357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Strategic Customer | Commodity Product | 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37% Win Rate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2F57E3-C703-B343-F672-5F079CCA15CD}"/>
              </a:ext>
            </a:extLst>
          </p:cNvPr>
          <p:cNvSpPr/>
          <p:nvPr/>
        </p:nvSpPr>
        <p:spPr>
          <a:xfrm>
            <a:off x="10996611" y="90720"/>
            <a:ext cx="866775" cy="89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25929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246C-81D5-E1F4-F3AC-501CE71F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8A71A2F-2BC4-BC44-2A43-BCA8C42B6EC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5" imgH="332" progId="TCLayout.ActiveDocument.1">
                  <p:embed/>
                </p:oleObj>
              </mc:Choice>
              <mc:Fallback>
                <p:oleObj name="think-cell Slide" r:id="rId3" imgW="345" imgH="332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A71A2F-2BC4-BC44-2A43-BCA8C42B6E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918CD08-52C4-31AF-7F67-A8006E8752E6}"/>
              </a:ext>
            </a:extLst>
          </p:cNvPr>
          <p:cNvSpPr/>
          <p:nvPr/>
        </p:nvSpPr>
        <p:spPr>
          <a:xfrm>
            <a:off x="6470767" y="4739443"/>
            <a:ext cx="2532882" cy="901878"/>
          </a:xfrm>
          <a:prstGeom prst="rect">
            <a:avLst/>
          </a:prstGeom>
          <a:solidFill>
            <a:srgbClr val="D1F0E0">
              <a:alpha val="69804"/>
            </a:srgbClr>
          </a:solidFill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E0EDC-E16D-5C91-5471-EE0017AF7181}"/>
              </a:ext>
            </a:extLst>
          </p:cNvPr>
          <p:cNvSpPr/>
          <p:nvPr/>
        </p:nvSpPr>
        <p:spPr>
          <a:xfrm>
            <a:off x="6470766" y="4244696"/>
            <a:ext cx="1805069" cy="1396628"/>
          </a:xfrm>
          <a:prstGeom prst="rect">
            <a:avLst/>
          </a:prstGeom>
          <a:solidFill>
            <a:srgbClr val="D1F0E0">
              <a:alpha val="69804"/>
            </a:srgbClr>
          </a:solidFill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3C4060-B2E8-6135-E148-E616B765DBB8}"/>
              </a:ext>
            </a:extLst>
          </p:cNvPr>
          <p:cNvSpPr/>
          <p:nvPr/>
        </p:nvSpPr>
        <p:spPr>
          <a:xfrm>
            <a:off x="6470766" y="3072179"/>
            <a:ext cx="1055964" cy="2554778"/>
          </a:xfrm>
          <a:prstGeom prst="rect">
            <a:avLst/>
          </a:prstGeom>
          <a:solidFill>
            <a:srgbClr val="D1F0E0">
              <a:alpha val="69804"/>
            </a:srgbClr>
          </a:solidFill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03348B-4B7E-EA5A-0DEB-F45D2F5AF6A9}"/>
              </a:ext>
            </a:extLst>
          </p:cNvPr>
          <p:cNvSpPr/>
          <p:nvPr/>
        </p:nvSpPr>
        <p:spPr>
          <a:xfrm>
            <a:off x="6470767" y="3712530"/>
            <a:ext cx="1362720" cy="1928793"/>
          </a:xfrm>
          <a:prstGeom prst="rect">
            <a:avLst/>
          </a:prstGeom>
          <a:solidFill>
            <a:srgbClr val="D1F0E0">
              <a:alpha val="80000"/>
            </a:srgbClr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8885D-F9DD-B7FC-1460-98A98B76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668125" cy="897744"/>
          </a:xfrm>
        </p:spPr>
        <p:txBody>
          <a:bodyPr vert="horz" rIns="91440"/>
          <a:lstStyle/>
          <a:p>
            <a:r>
              <a:rPr lang="en-US" b="1"/>
              <a:t>Dynamic Model | </a:t>
            </a:r>
            <a:r>
              <a:rPr lang="en-US"/>
              <a:t>Evolves with changing market conditions and objectives to maximize profit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A2F33-0BCC-F03B-1085-C6C6A20584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18E099-5448-C23D-195E-16F17B7117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A6863B-3B83-68F7-01F5-A8F19621F9AE}"/>
              </a:ext>
            </a:extLst>
          </p:cNvPr>
          <p:cNvGrpSpPr/>
          <p:nvPr/>
        </p:nvGrpSpPr>
        <p:grpSpPr>
          <a:xfrm>
            <a:off x="558645" y="1544570"/>
            <a:ext cx="5871578" cy="4405344"/>
            <a:chOff x="4222351" y="1525031"/>
            <a:chExt cx="5871578" cy="4405344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2A0DD26-45DB-BF5D-24E4-46C2EC7DC5A2}"/>
                </a:ext>
              </a:extLst>
            </p:cNvPr>
            <p:cNvSpPr/>
            <p:nvPr/>
          </p:nvSpPr>
          <p:spPr>
            <a:xfrm rot="2685950">
              <a:off x="5199157" y="2560479"/>
              <a:ext cx="3754351" cy="2013609"/>
            </a:xfrm>
            <a:custGeom>
              <a:avLst/>
              <a:gdLst>
                <a:gd name="csX0" fmla="*/ 0 w 3754351"/>
                <a:gd name="csY0" fmla="*/ 1006805 h 2013609"/>
                <a:gd name="csX1" fmla="*/ 1877176 w 3754351"/>
                <a:gd name="csY1" fmla="*/ 0 h 2013609"/>
                <a:gd name="csX2" fmla="*/ 3754352 w 3754351"/>
                <a:gd name="csY2" fmla="*/ 1006805 h 2013609"/>
                <a:gd name="csX3" fmla="*/ 1877176 w 3754351"/>
                <a:gd name="csY3" fmla="*/ 2013610 h 2013609"/>
                <a:gd name="csX4" fmla="*/ 0 w 3754351"/>
                <a:gd name="csY4" fmla="*/ 1006805 h 20136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54351" h="2013609" extrusionOk="0">
                  <a:moveTo>
                    <a:pt x="0" y="1006805"/>
                  </a:moveTo>
                  <a:cubicBezTo>
                    <a:pt x="22041" y="442948"/>
                    <a:pt x="690128" y="22391"/>
                    <a:pt x="1877176" y="0"/>
                  </a:cubicBezTo>
                  <a:cubicBezTo>
                    <a:pt x="2925886" y="108337"/>
                    <a:pt x="3732525" y="458550"/>
                    <a:pt x="3754352" y="1006805"/>
                  </a:cubicBezTo>
                  <a:cubicBezTo>
                    <a:pt x="3695653" y="1388778"/>
                    <a:pt x="2865222" y="1963762"/>
                    <a:pt x="1877176" y="2013610"/>
                  </a:cubicBezTo>
                  <a:cubicBezTo>
                    <a:pt x="831457" y="2004473"/>
                    <a:pt x="-32773" y="1584801"/>
                    <a:pt x="0" y="1006805"/>
                  </a:cubicBezTo>
                  <a:close/>
                </a:path>
              </a:pathLst>
            </a:cu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2287070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7FAD81A-BE44-7133-970C-A6FAC7608D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548906">
              <a:off x="5195743" y="2528446"/>
              <a:ext cx="4269846" cy="1408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E9D855-8CFD-367B-9BA4-594BB9A48A96}"/>
                </a:ext>
              </a:extLst>
            </p:cNvPr>
            <p:cNvSpPr/>
            <p:nvPr/>
          </p:nvSpPr>
          <p:spPr>
            <a:xfrm>
              <a:off x="4587618" y="1525031"/>
              <a:ext cx="4912142" cy="118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5282A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Dynamic Segmentation to Match Value Proposition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8572BC-E2A3-9DDD-63B7-EF4985F067C2}"/>
                </a:ext>
              </a:extLst>
            </p:cNvPr>
            <p:cNvSpPr/>
            <p:nvPr/>
          </p:nvSpPr>
          <p:spPr>
            <a:xfrm>
              <a:off x="4807031" y="4876082"/>
              <a:ext cx="2651761" cy="7457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1E35429-A550-4F14-EFCF-B1B25E565F5D}"/>
                </a:ext>
              </a:extLst>
            </p:cNvPr>
            <p:cNvSpPr/>
            <p:nvPr/>
          </p:nvSpPr>
          <p:spPr>
            <a:xfrm>
              <a:off x="4807036" y="4391929"/>
              <a:ext cx="1737361" cy="122985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F0C9115-35F0-EDF6-DC02-D4BB90BC5CEE}"/>
                </a:ext>
              </a:extLst>
            </p:cNvPr>
            <p:cNvSpPr/>
            <p:nvPr/>
          </p:nvSpPr>
          <p:spPr>
            <a:xfrm>
              <a:off x="4809570" y="2973209"/>
              <a:ext cx="777240" cy="263420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4FB1FF-C073-7D16-8409-1110F281FDF3}"/>
                </a:ext>
              </a:extLst>
            </p:cNvPr>
            <p:cNvSpPr/>
            <p:nvPr/>
          </p:nvSpPr>
          <p:spPr>
            <a:xfrm>
              <a:off x="4809568" y="3775088"/>
              <a:ext cx="1136846" cy="1846696"/>
            </a:xfrm>
            <a:prstGeom prst="rect">
              <a:avLst/>
            </a:prstGeom>
            <a:solidFill>
              <a:srgbClr val="98CEF3">
                <a:alpha val="69804"/>
              </a:srgbClr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B20542D-30D5-8354-D293-36CC40A5F28F}"/>
                </a:ext>
              </a:extLst>
            </p:cNvPr>
            <p:cNvSpPr/>
            <p:nvPr/>
          </p:nvSpPr>
          <p:spPr>
            <a:xfrm>
              <a:off x="4818649" y="4636093"/>
              <a:ext cx="1127766" cy="28655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1C2C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Revenue $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ED0709A-8BB4-FC20-E3FD-7BC3654A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9569" y="2301444"/>
              <a:ext cx="0" cy="3320343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CAA99CA-D8BE-CF6C-E4EE-F9761ECF0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9569" y="5621787"/>
              <a:ext cx="3728685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13C58C-4017-5FCD-EBF0-E135CAFEB8EF}"/>
                </a:ext>
              </a:extLst>
            </p:cNvPr>
            <p:cNvSpPr/>
            <p:nvPr/>
          </p:nvSpPr>
          <p:spPr>
            <a:xfrm>
              <a:off x="4222351" y="2014894"/>
              <a:ext cx="1194216" cy="2865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5282A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Price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6B2B97-10B2-B8BB-8B28-5FED8F60FF25}"/>
                </a:ext>
              </a:extLst>
            </p:cNvPr>
            <p:cNvSpPr/>
            <p:nvPr/>
          </p:nvSpPr>
          <p:spPr>
            <a:xfrm>
              <a:off x="6136145" y="5643825"/>
              <a:ext cx="1194216" cy="2865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5282A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Demand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568406A-C4C3-2DD5-7317-19B9F44982A7}"/>
                </a:ext>
              </a:extLst>
            </p:cNvPr>
            <p:cNvSpPr/>
            <p:nvPr/>
          </p:nvSpPr>
          <p:spPr>
            <a:xfrm>
              <a:off x="6000564" y="3425028"/>
              <a:ext cx="2259061" cy="325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51C2C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Cust 2: $17.96 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1208685-56B5-B03B-A776-1488A9787B7B}"/>
                </a:ext>
              </a:extLst>
            </p:cNvPr>
            <p:cNvSpPr/>
            <p:nvPr/>
          </p:nvSpPr>
          <p:spPr>
            <a:xfrm>
              <a:off x="5491933" y="2912068"/>
              <a:ext cx="176544" cy="163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833697A-15F4-38C3-945A-58EFD0E5D919}"/>
                </a:ext>
              </a:extLst>
            </p:cNvPr>
            <p:cNvSpPr/>
            <p:nvPr/>
          </p:nvSpPr>
          <p:spPr>
            <a:xfrm>
              <a:off x="5675716" y="2757185"/>
              <a:ext cx="2259062" cy="2377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51C2C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Cust 1: $19.24 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600446D-D137-A223-DDDF-4B9A1F590E7C}"/>
                </a:ext>
              </a:extLst>
            </p:cNvPr>
            <p:cNvSpPr/>
            <p:nvPr/>
          </p:nvSpPr>
          <p:spPr>
            <a:xfrm>
              <a:off x="6445607" y="4326788"/>
              <a:ext cx="176544" cy="163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5E8A62A-30CE-71A0-6695-96918F7B20FF}"/>
                </a:ext>
              </a:extLst>
            </p:cNvPr>
            <p:cNvSpPr/>
            <p:nvPr/>
          </p:nvSpPr>
          <p:spPr>
            <a:xfrm>
              <a:off x="7338819" y="4767780"/>
              <a:ext cx="176544" cy="163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0C2FFCD-2DA2-6C6B-A194-2ED1BC391DF5}"/>
                </a:ext>
              </a:extLst>
            </p:cNvPr>
            <p:cNvSpPr/>
            <p:nvPr/>
          </p:nvSpPr>
          <p:spPr>
            <a:xfrm>
              <a:off x="6577860" y="4030023"/>
              <a:ext cx="2092984" cy="3842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51C2C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Cust 3: $16.73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C28058-BF86-107E-25F5-FA084F7F0D1F}"/>
                </a:ext>
              </a:extLst>
            </p:cNvPr>
            <p:cNvSpPr/>
            <p:nvPr/>
          </p:nvSpPr>
          <p:spPr>
            <a:xfrm>
              <a:off x="7453868" y="4508659"/>
              <a:ext cx="2640061" cy="345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51C2C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Cust 4: $14.89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07CDFF5-6090-0245-BB8D-7CD34F9524FB}"/>
                </a:ext>
              </a:extLst>
            </p:cNvPr>
            <p:cNvSpPr/>
            <p:nvPr/>
          </p:nvSpPr>
          <p:spPr>
            <a:xfrm>
              <a:off x="5868072" y="3698125"/>
              <a:ext cx="176544" cy="163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363D4129-7A27-E94B-CEB6-3E63021B2EB3}"/>
              </a:ext>
            </a:extLst>
          </p:cNvPr>
          <p:cNvSpPr/>
          <p:nvPr/>
        </p:nvSpPr>
        <p:spPr>
          <a:xfrm rot="2685950">
            <a:off x="6862368" y="2580018"/>
            <a:ext cx="3754351" cy="2013609"/>
          </a:xfrm>
          <a:custGeom>
            <a:avLst/>
            <a:gdLst>
              <a:gd name="csX0" fmla="*/ 0 w 3754351"/>
              <a:gd name="csY0" fmla="*/ 1006805 h 2013609"/>
              <a:gd name="csX1" fmla="*/ 1877176 w 3754351"/>
              <a:gd name="csY1" fmla="*/ 0 h 2013609"/>
              <a:gd name="csX2" fmla="*/ 3754352 w 3754351"/>
              <a:gd name="csY2" fmla="*/ 1006805 h 2013609"/>
              <a:gd name="csX3" fmla="*/ 1877176 w 3754351"/>
              <a:gd name="csY3" fmla="*/ 2013610 h 2013609"/>
              <a:gd name="csX4" fmla="*/ 0 w 3754351"/>
              <a:gd name="csY4" fmla="*/ 1006805 h 20136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54351" h="2013609" extrusionOk="0">
                <a:moveTo>
                  <a:pt x="0" y="1006805"/>
                </a:moveTo>
                <a:cubicBezTo>
                  <a:pt x="22041" y="442948"/>
                  <a:pt x="690128" y="22391"/>
                  <a:pt x="1877176" y="0"/>
                </a:cubicBezTo>
                <a:cubicBezTo>
                  <a:pt x="2925886" y="108337"/>
                  <a:pt x="3732525" y="458550"/>
                  <a:pt x="3754352" y="1006805"/>
                </a:cubicBezTo>
                <a:cubicBezTo>
                  <a:pt x="3695653" y="1388778"/>
                  <a:pt x="2865222" y="1963762"/>
                  <a:pt x="1877176" y="2013610"/>
                </a:cubicBezTo>
                <a:cubicBezTo>
                  <a:pt x="831457" y="2004473"/>
                  <a:pt x="-32773" y="1584801"/>
                  <a:pt x="0" y="1006805"/>
                </a:cubicBezTo>
                <a:close/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32287070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65CF79-94ED-AF36-287A-57461B8BEC2A}"/>
              </a:ext>
            </a:extLst>
          </p:cNvPr>
          <p:cNvSpPr/>
          <p:nvPr/>
        </p:nvSpPr>
        <p:spPr>
          <a:xfrm rot="2951218">
            <a:off x="7035429" y="2484298"/>
            <a:ext cx="3754351" cy="2013609"/>
          </a:xfrm>
          <a:custGeom>
            <a:avLst/>
            <a:gdLst>
              <a:gd name="csX0" fmla="*/ 0 w 3754351"/>
              <a:gd name="csY0" fmla="*/ 1006805 h 2013609"/>
              <a:gd name="csX1" fmla="*/ 1877176 w 3754351"/>
              <a:gd name="csY1" fmla="*/ 0 h 2013609"/>
              <a:gd name="csX2" fmla="*/ 3754352 w 3754351"/>
              <a:gd name="csY2" fmla="*/ 1006805 h 2013609"/>
              <a:gd name="csX3" fmla="*/ 1877176 w 3754351"/>
              <a:gd name="csY3" fmla="*/ 2013610 h 2013609"/>
              <a:gd name="csX4" fmla="*/ 0 w 3754351"/>
              <a:gd name="csY4" fmla="*/ 1006805 h 20136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54351" h="2013609" extrusionOk="0">
                <a:moveTo>
                  <a:pt x="0" y="1006805"/>
                </a:moveTo>
                <a:cubicBezTo>
                  <a:pt x="22041" y="442948"/>
                  <a:pt x="690128" y="22391"/>
                  <a:pt x="1877176" y="0"/>
                </a:cubicBezTo>
                <a:cubicBezTo>
                  <a:pt x="2925886" y="108337"/>
                  <a:pt x="3732525" y="458550"/>
                  <a:pt x="3754352" y="1006805"/>
                </a:cubicBezTo>
                <a:cubicBezTo>
                  <a:pt x="3695653" y="1388778"/>
                  <a:pt x="2865222" y="1963762"/>
                  <a:pt x="1877176" y="2013610"/>
                </a:cubicBezTo>
                <a:cubicBezTo>
                  <a:pt x="831457" y="2004473"/>
                  <a:pt x="-32773" y="1584801"/>
                  <a:pt x="0" y="1006805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32287070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508DEF-BA8A-0D12-97CB-8B7B344A5D9D}"/>
              </a:ext>
            </a:extLst>
          </p:cNvPr>
          <p:cNvSpPr/>
          <p:nvPr/>
        </p:nvSpPr>
        <p:spPr>
          <a:xfrm>
            <a:off x="6589082" y="4655632"/>
            <a:ext cx="1127766" cy="286550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9966">
                    <a:lumMod val="75000"/>
                  </a:srgbClr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Revenue $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5315FE-9219-D452-30D2-6A5E75B36CF5}"/>
              </a:ext>
            </a:extLst>
          </p:cNvPr>
          <p:cNvCxnSpPr>
            <a:cxnSpLocks/>
          </p:cNvCxnSpPr>
          <p:nvPr/>
        </p:nvCxnSpPr>
        <p:spPr>
          <a:xfrm flipH="1">
            <a:off x="6463255" y="2320983"/>
            <a:ext cx="0" cy="332034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CA706B-9CEB-73E8-32C5-265803D01AD3}"/>
              </a:ext>
            </a:extLst>
          </p:cNvPr>
          <p:cNvCxnSpPr>
            <a:cxnSpLocks/>
          </p:cNvCxnSpPr>
          <p:nvPr/>
        </p:nvCxnSpPr>
        <p:spPr>
          <a:xfrm flipH="1">
            <a:off x="6463255" y="5641326"/>
            <a:ext cx="372868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F46F83C-0FD0-2B44-FA6A-8B2340176780}"/>
              </a:ext>
            </a:extLst>
          </p:cNvPr>
          <p:cNvSpPr/>
          <p:nvPr/>
        </p:nvSpPr>
        <p:spPr>
          <a:xfrm>
            <a:off x="5876037" y="2034433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Price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D593A6-F87A-D1B7-D989-46B6EB3707BA}"/>
              </a:ext>
            </a:extLst>
          </p:cNvPr>
          <p:cNvSpPr/>
          <p:nvPr/>
        </p:nvSpPr>
        <p:spPr>
          <a:xfrm>
            <a:off x="7789831" y="5663364"/>
            <a:ext cx="1194216" cy="28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Demand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A4490A-989B-DF96-1482-BD5951AA11C8}"/>
              </a:ext>
            </a:extLst>
          </p:cNvPr>
          <p:cNvSpPr>
            <a:spLocks/>
          </p:cNvSpPr>
          <p:nvPr/>
        </p:nvSpPr>
        <p:spPr>
          <a:xfrm rot="2453047">
            <a:off x="7080634" y="2399447"/>
            <a:ext cx="4269846" cy="1600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A434EC-7828-70B6-9D09-191B5530560B}"/>
              </a:ext>
            </a:extLst>
          </p:cNvPr>
          <p:cNvSpPr/>
          <p:nvPr/>
        </p:nvSpPr>
        <p:spPr>
          <a:xfrm>
            <a:off x="7940389" y="3374634"/>
            <a:ext cx="2259061" cy="325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9966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Cust 2: $17.96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0BC980F-47F9-7CD4-6998-E5C41561AC6C}"/>
              </a:ext>
            </a:extLst>
          </p:cNvPr>
          <p:cNvSpPr/>
          <p:nvPr/>
        </p:nvSpPr>
        <p:spPr>
          <a:xfrm>
            <a:off x="7465478" y="3013474"/>
            <a:ext cx="176544" cy="163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3486646-7625-6FEE-C394-8B7C8B8288DE}"/>
              </a:ext>
            </a:extLst>
          </p:cNvPr>
          <p:cNvSpPr/>
          <p:nvPr/>
        </p:nvSpPr>
        <p:spPr>
          <a:xfrm>
            <a:off x="7612164" y="2840927"/>
            <a:ext cx="1430867" cy="237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9966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Cust 1: $18.79 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709D412-5B71-7268-E2E1-07F64A092B1F}"/>
              </a:ext>
            </a:extLst>
          </p:cNvPr>
          <p:cNvSpPr/>
          <p:nvPr/>
        </p:nvSpPr>
        <p:spPr>
          <a:xfrm>
            <a:off x="8178803" y="4146117"/>
            <a:ext cx="176544" cy="163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17BC964-82ED-6ACB-8869-E41DF9D59B52}"/>
              </a:ext>
            </a:extLst>
          </p:cNvPr>
          <p:cNvSpPr/>
          <p:nvPr/>
        </p:nvSpPr>
        <p:spPr>
          <a:xfrm>
            <a:off x="8883332" y="4649947"/>
            <a:ext cx="176544" cy="163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3B6FCF-0A8C-C9B1-8CA3-FA33AE6DA68D}"/>
              </a:ext>
            </a:extLst>
          </p:cNvPr>
          <p:cNvSpPr/>
          <p:nvPr/>
        </p:nvSpPr>
        <p:spPr>
          <a:xfrm>
            <a:off x="8411424" y="3909343"/>
            <a:ext cx="2092984" cy="384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9966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Cust 3: $17.05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A6BF0D-0604-557A-16DD-E60F9ABB35C8}"/>
              </a:ext>
            </a:extLst>
          </p:cNvPr>
          <p:cNvSpPr/>
          <p:nvPr/>
        </p:nvSpPr>
        <p:spPr>
          <a:xfrm>
            <a:off x="9011160" y="4468004"/>
            <a:ext cx="2640061" cy="345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9966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Cust 4: $15.20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35654C9-55E2-4C2F-231A-6EFB95B170D3}"/>
              </a:ext>
            </a:extLst>
          </p:cNvPr>
          <p:cNvSpPr/>
          <p:nvPr/>
        </p:nvSpPr>
        <p:spPr>
          <a:xfrm>
            <a:off x="7739346" y="3613952"/>
            <a:ext cx="176544" cy="163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A8440-8B32-13C3-6CB7-6EE3EE53F031}"/>
              </a:ext>
            </a:extLst>
          </p:cNvPr>
          <p:cNvSpPr/>
          <p:nvPr/>
        </p:nvSpPr>
        <p:spPr>
          <a:xfrm>
            <a:off x="6626846" y="2337249"/>
            <a:ext cx="801254" cy="383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Original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37883-6EFB-4986-C9B3-BE9F1F42C149}"/>
              </a:ext>
            </a:extLst>
          </p:cNvPr>
          <p:cNvSpPr/>
          <p:nvPr/>
        </p:nvSpPr>
        <p:spPr>
          <a:xfrm>
            <a:off x="6250829" y="1544570"/>
            <a:ext cx="4912142" cy="118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5282A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Dynamic Model Adjusts for Evolving Market Conditions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393E41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64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D3E34C3-7B8F-C8EB-4596-51F68C2C0EF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306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5" imgH="332" progId="TCLayout.ActiveDocument.1">
                  <p:embed/>
                </p:oleObj>
              </mc:Choice>
              <mc:Fallback>
                <p:oleObj name="think-cell Slide" r:id="rId3" imgW="345" imgH="332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3E34C3-7B8F-C8EB-4596-51F68C2C0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Rectangle 114">
            <a:extLst>
              <a:ext uri="{FF2B5EF4-FFF2-40B4-BE49-F238E27FC236}">
                <a16:creationId xmlns:a16="http://schemas.microsoft.com/office/drawing/2014/main" id="{6C3840F7-B4DB-BA2F-4FF9-39D0752000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0555" y="1599655"/>
            <a:ext cx="2120664" cy="427654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10000"/>
                  <a:lumOff val="90000"/>
                  <a:alpha val="19000"/>
                </a:schemeClr>
              </a:gs>
              <a:gs pos="35000">
                <a:schemeClr val="tx2">
                  <a:lumMod val="10000"/>
                  <a:lumOff val="90000"/>
                  <a:alpha val="4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5282A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49B819A-1106-AA5F-5856-C3A574E4C4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21883" y="1548952"/>
            <a:ext cx="9289116" cy="4327243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  <a:lumMod val="78000"/>
                </a:schemeClr>
              </a:gs>
              <a:gs pos="35000">
                <a:schemeClr val="bg1">
                  <a:lumMod val="85000"/>
                  <a:alpha val="2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0D6A55-93A3-AEF0-45D4-976620F8999C}"/>
              </a:ext>
            </a:extLst>
          </p:cNvPr>
          <p:cNvSpPr/>
          <p:nvPr/>
        </p:nvSpPr>
        <p:spPr>
          <a:xfrm>
            <a:off x="378903" y="5457201"/>
            <a:ext cx="11536461" cy="5468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34E975-0DAB-41F8-B2D0-402F7BD0DE75}"/>
              </a:ext>
            </a:extLst>
          </p:cNvPr>
          <p:cNvSpPr/>
          <p:nvPr/>
        </p:nvSpPr>
        <p:spPr>
          <a:xfrm>
            <a:off x="484466" y="5541529"/>
            <a:ext cx="1990295" cy="400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+ Strategic Guidance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DB8E42-A04A-7861-29B0-5B84E17F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Dynamic Model </a:t>
            </a:r>
            <a:r>
              <a:rPr lang="en-US"/>
              <a:t>|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7E47D5-D0AC-5E2C-7914-D994CEE86E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15AFE5-2D94-6376-B87D-BECFBBB1D520}"/>
              </a:ext>
            </a:extLst>
          </p:cNvPr>
          <p:cNvGrpSpPr>
            <a:grpSpLocks/>
          </p:cNvGrpSpPr>
          <p:nvPr/>
        </p:nvGrpSpPr>
        <p:grpSpPr>
          <a:xfrm>
            <a:off x="2746490" y="2398908"/>
            <a:ext cx="3411296" cy="2453675"/>
            <a:chOff x="2660627" y="2794332"/>
            <a:chExt cx="3991690" cy="283374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29678B-3895-35DF-79F8-A0ACC64DFAF1}"/>
                </a:ext>
              </a:extLst>
            </p:cNvPr>
            <p:cNvSpPr>
              <a:spLocks/>
            </p:cNvSpPr>
            <p:nvPr/>
          </p:nvSpPr>
          <p:spPr>
            <a:xfrm rot="1343228">
              <a:off x="2660627" y="5243545"/>
              <a:ext cx="2335592" cy="3484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CED6FF5F-6BAE-EE96-944B-5DFF6118DFF1}"/>
                </a:ext>
              </a:extLst>
            </p:cNvPr>
            <p:cNvSpPr>
              <a:spLocks/>
            </p:cNvSpPr>
            <p:nvPr/>
          </p:nvSpPr>
          <p:spPr>
            <a:xfrm rot="20151497">
              <a:off x="4676245" y="5250570"/>
              <a:ext cx="1976072" cy="377505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C3CFD7CC-64FF-1F18-3F3C-CFB9A91731C3}"/>
                </a:ext>
              </a:extLst>
            </p:cNvPr>
            <p:cNvSpPr>
              <a:spLocks/>
            </p:cNvSpPr>
            <p:nvPr/>
          </p:nvSpPr>
          <p:spPr>
            <a:xfrm rot="16200000">
              <a:off x="1697226" y="3777538"/>
              <a:ext cx="2343918" cy="37750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C7BD1CD1-BC6C-CEF3-F155-6A18653F63B3}"/>
              </a:ext>
            </a:extLst>
          </p:cNvPr>
          <p:cNvSpPr/>
          <p:nvPr/>
        </p:nvSpPr>
        <p:spPr>
          <a:xfrm>
            <a:off x="381000" y="1273121"/>
            <a:ext cx="2218267" cy="331402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INPUTS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64746EF1-01B1-9F31-5C5F-3C7F43CB58B5}"/>
              </a:ext>
            </a:extLst>
          </p:cNvPr>
          <p:cNvSpPr/>
          <p:nvPr/>
        </p:nvSpPr>
        <p:spPr>
          <a:xfrm>
            <a:off x="2489605" y="1273121"/>
            <a:ext cx="3906436" cy="331402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SEGMENTATION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1A56E184-66C3-3312-B92B-B27E202AE803}"/>
              </a:ext>
            </a:extLst>
          </p:cNvPr>
          <p:cNvSpPr/>
          <p:nvPr/>
        </p:nvSpPr>
        <p:spPr>
          <a:xfrm>
            <a:off x="6291470" y="1273121"/>
            <a:ext cx="3260034" cy="331402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PARAMETERS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46AA5950-94FB-A9D4-5EC3-F8841D6ABBFF}"/>
              </a:ext>
            </a:extLst>
          </p:cNvPr>
          <p:cNvSpPr/>
          <p:nvPr/>
        </p:nvSpPr>
        <p:spPr>
          <a:xfrm>
            <a:off x="9434749" y="1273121"/>
            <a:ext cx="2386190" cy="331402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OUTPUTS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1B8420-967D-6588-C9E4-D9D1A77A5610}"/>
              </a:ext>
            </a:extLst>
          </p:cNvPr>
          <p:cNvSpPr/>
          <p:nvPr/>
        </p:nvSpPr>
        <p:spPr>
          <a:xfrm>
            <a:off x="2597615" y="5541529"/>
            <a:ext cx="3839633" cy="400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Commercially Viable Segments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CE697B-F9AA-117F-FC89-CC4A70A4BEC5}"/>
              </a:ext>
            </a:extLst>
          </p:cNvPr>
          <p:cNvSpPr/>
          <p:nvPr/>
        </p:nvSpPr>
        <p:spPr>
          <a:xfrm>
            <a:off x="6526108" y="5541529"/>
            <a:ext cx="2808190" cy="400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Priority Aligned Parameters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CCA9CE-2587-9DA4-7AEB-1F0A03D5C8A3}"/>
              </a:ext>
            </a:extLst>
          </p:cNvPr>
          <p:cNvSpPr/>
          <p:nvPr/>
        </p:nvSpPr>
        <p:spPr>
          <a:xfrm>
            <a:off x="9423158" y="5541529"/>
            <a:ext cx="2386189" cy="400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Intelligent Market Response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F3F39C0-5362-29F2-09C9-F46566F3F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95967"/>
              </p:ext>
            </p:extLst>
          </p:nvPr>
        </p:nvGraphicFramePr>
        <p:xfrm>
          <a:off x="6351262" y="2399022"/>
          <a:ext cx="2904597" cy="2546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966">
                  <a:extLst>
                    <a:ext uri="{9D8B030D-6E8A-4147-A177-3AD203B41FA5}">
                      <a16:colId xmlns:a16="http://schemas.microsoft.com/office/drawing/2014/main" val="136644499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741853035"/>
                    </a:ext>
                  </a:extLst>
                </a:gridCol>
              </a:tblGrid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Customer 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Product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+1.2%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Volume Trend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End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Market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2867395"/>
                  </a:ext>
                </a:extLst>
              </a:tr>
            </a:tbl>
          </a:graphicData>
        </a:graphic>
      </p:graphicFrame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0427C1A-A349-83A7-33A7-FA50FECC1344}"/>
              </a:ext>
            </a:extLst>
          </p:cNvPr>
          <p:cNvGrpSpPr>
            <a:grpSpLocks/>
          </p:cNvGrpSpPr>
          <p:nvPr/>
        </p:nvGrpSpPr>
        <p:grpSpPr>
          <a:xfrm>
            <a:off x="3212755" y="1622360"/>
            <a:ext cx="2615140" cy="2947653"/>
            <a:chOff x="3341962" y="1624347"/>
            <a:chExt cx="2615140" cy="2947653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6A2FD92-BDFF-F4D2-6727-80C7708835EB}"/>
                </a:ext>
              </a:extLst>
            </p:cNvPr>
            <p:cNvGrpSpPr>
              <a:grpSpLocks/>
            </p:cNvGrpSpPr>
            <p:nvPr/>
          </p:nvGrpSpPr>
          <p:grpSpPr>
            <a:xfrm>
              <a:off x="3341962" y="1624347"/>
              <a:ext cx="2615140" cy="2947653"/>
              <a:chOff x="3341962" y="1624347"/>
              <a:chExt cx="2615140" cy="294765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237D5BF-601F-9F96-C4E9-1A49FB75645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415154" y="1624347"/>
                <a:ext cx="2524667" cy="2947653"/>
                <a:chOff x="2550253" y="2087041"/>
                <a:chExt cx="2517715" cy="2904456"/>
              </a:xfrm>
            </p:grpSpPr>
            <p:sp>
              <p:nvSpPr>
                <p:cNvPr id="12" name="Flowchart: Process 11">
                  <a:extLst>
                    <a:ext uri="{FF2B5EF4-FFF2-40B4-BE49-F238E27FC236}">
                      <a16:creationId xmlns:a16="http://schemas.microsoft.com/office/drawing/2014/main" id="{11625B9A-E728-C288-A07C-495A8FCE371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16975" y="2835421"/>
                  <a:ext cx="1250993" cy="2156010"/>
                </a:xfrm>
                <a:custGeom>
                  <a:avLst/>
                  <a:gdLst>
                    <a:gd name="csX0" fmla="*/ 0 w 10000"/>
                    <a:gd name="csY0" fmla="*/ 0 h 10000"/>
                    <a:gd name="csX1" fmla="*/ 10000 w 10000"/>
                    <a:gd name="csY1" fmla="*/ 0 h 10000"/>
                    <a:gd name="csX2" fmla="*/ 10000 w 10000"/>
                    <a:gd name="csY2" fmla="*/ 10000 h 10000"/>
                    <a:gd name="csX3" fmla="*/ 0 w 10000"/>
                    <a:gd name="csY3" fmla="*/ 10000 h 10000"/>
                    <a:gd name="csX4" fmla="*/ 0 w 10000"/>
                    <a:gd name="csY4" fmla="*/ 0 h 10000"/>
                    <a:gd name="csX0" fmla="*/ 0 w 10000"/>
                    <a:gd name="csY0" fmla="*/ 4088 h 14088"/>
                    <a:gd name="csX1" fmla="*/ 9797 w 10000"/>
                    <a:gd name="csY1" fmla="*/ 0 h 14088"/>
                    <a:gd name="csX2" fmla="*/ 10000 w 10000"/>
                    <a:gd name="csY2" fmla="*/ 14088 h 14088"/>
                    <a:gd name="csX3" fmla="*/ 0 w 10000"/>
                    <a:gd name="csY3" fmla="*/ 14088 h 14088"/>
                    <a:gd name="csX4" fmla="*/ 0 w 10000"/>
                    <a:gd name="csY4" fmla="*/ 4088 h 14088"/>
                    <a:gd name="csX0" fmla="*/ 0 w 10000"/>
                    <a:gd name="csY0" fmla="*/ 4088 h 18176"/>
                    <a:gd name="csX1" fmla="*/ 9797 w 10000"/>
                    <a:gd name="csY1" fmla="*/ 0 h 18176"/>
                    <a:gd name="csX2" fmla="*/ 10000 w 10000"/>
                    <a:gd name="csY2" fmla="*/ 14088 h 18176"/>
                    <a:gd name="csX3" fmla="*/ 0 w 10000"/>
                    <a:gd name="csY3" fmla="*/ 18176 h 18176"/>
                    <a:gd name="csX4" fmla="*/ 0 w 10000"/>
                    <a:gd name="csY4" fmla="*/ 4088 h 18176"/>
                    <a:gd name="csX0" fmla="*/ 0 w 9811"/>
                    <a:gd name="csY0" fmla="*/ 4088 h 18176"/>
                    <a:gd name="csX1" fmla="*/ 9797 w 9811"/>
                    <a:gd name="csY1" fmla="*/ 0 h 18176"/>
                    <a:gd name="csX2" fmla="*/ 9730 w 9811"/>
                    <a:gd name="csY2" fmla="*/ 13942 h 18176"/>
                    <a:gd name="csX3" fmla="*/ 0 w 9811"/>
                    <a:gd name="csY3" fmla="*/ 18176 h 18176"/>
                    <a:gd name="csX4" fmla="*/ 0 w 9811"/>
                    <a:gd name="csY4" fmla="*/ 4088 h 18176"/>
                    <a:gd name="csX0" fmla="*/ 0 w 10055"/>
                    <a:gd name="csY0" fmla="*/ 2249 h 10000"/>
                    <a:gd name="csX1" fmla="*/ 9986 w 10055"/>
                    <a:gd name="csY1" fmla="*/ 0 h 10000"/>
                    <a:gd name="csX2" fmla="*/ 10055 w 10055"/>
                    <a:gd name="csY2" fmla="*/ 7711 h 10000"/>
                    <a:gd name="csX3" fmla="*/ 0 w 10055"/>
                    <a:gd name="csY3" fmla="*/ 10000 h 10000"/>
                    <a:gd name="csX4" fmla="*/ 0 w 10055"/>
                    <a:gd name="csY4" fmla="*/ 2249 h 10000"/>
                    <a:gd name="csX0" fmla="*/ 69 w 10124"/>
                    <a:gd name="csY0" fmla="*/ 2249 h 10080"/>
                    <a:gd name="csX1" fmla="*/ 10055 w 10124"/>
                    <a:gd name="csY1" fmla="*/ 0 h 10080"/>
                    <a:gd name="csX2" fmla="*/ 10124 w 10124"/>
                    <a:gd name="csY2" fmla="*/ 7711 h 10080"/>
                    <a:gd name="csX3" fmla="*/ 0 w 10124"/>
                    <a:gd name="csY3" fmla="*/ 10080 h 10080"/>
                    <a:gd name="csX4" fmla="*/ 69 w 10124"/>
                    <a:gd name="csY4" fmla="*/ 2249 h 10080"/>
                    <a:gd name="csX0" fmla="*/ 69 w 10207"/>
                    <a:gd name="csY0" fmla="*/ 2329 h 10160"/>
                    <a:gd name="csX1" fmla="*/ 10193 w 10207"/>
                    <a:gd name="csY1" fmla="*/ 0 h 10160"/>
                    <a:gd name="csX2" fmla="*/ 10124 w 10207"/>
                    <a:gd name="csY2" fmla="*/ 7791 h 10160"/>
                    <a:gd name="csX3" fmla="*/ 0 w 10207"/>
                    <a:gd name="csY3" fmla="*/ 10160 h 10160"/>
                    <a:gd name="csX4" fmla="*/ 69 w 10207"/>
                    <a:gd name="csY4" fmla="*/ 2329 h 10160"/>
                    <a:gd name="csX0" fmla="*/ 69 w 10273"/>
                    <a:gd name="csY0" fmla="*/ 2490 h 10321"/>
                    <a:gd name="csX1" fmla="*/ 10262 w 10273"/>
                    <a:gd name="csY1" fmla="*/ 0 h 10321"/>
                    <a:gd name="csX2" fmla="*/ 10124 w 10273"/>
                    <a:gd name="csY2" fmla="*/ 7952 h 10321"/>
                    <a:gd name="csX3" fmla="*/ 0 w 10273"/>
                    <a:gd name="csY3" fmla="*/ 10321 h 10321"/>
                    <a:gd name="csX4" fmla="*/ 69 w 10273"/>
                    <a:gd name="csY4" fmla="*/ 2490 h 10321"/>
                    <a:gd name="csX0" fmla="*/ 69 w 10270"/>
                    <a:gd name="csY0" fmla="*/ 2490 h 10321"/>
                    <a:gd name="csX1" fmla="*/ 10262 w 10270"/>
                    <a:gd name="csY1" fmla="*/ 0 h 10321"/>
                    <a:gd name="csX2" fmla="*/ 10046 w 10270"/>
                    <a:gd name="csY2" fmla="*/ 7682 h 10321"/>
                    <a:gd name="csX3" fmla="*/ 0 w 10270"/>
                    <a:gd name="csY3" fmla="*/ 10321 h 10321"/>
                    <a:gd name="csX4" fmla="*/ 69 w 10270"/>
                    <a:gd name="csY4" fmla="*/ 2490 h 103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270" h="10321">
                      <a:moveTo>
                        <a:pt x="69" y="2490"/>
                      </a:moveTo>
                      <a:lnTo>
                        <a:pt x="10262" y="0"/>
                      </a:lnTo>
                      <a:cubicBezTo>
                        <a:pt x="10331" y="2584"/>
                        <a:pt x="9977" y="5098"/>
                        <a:pt x="10046" y="7682"/>
                      </a:cubicBezTo>
                      <a:lnTo>
                        <a:pt x="0" y="10321"/>
                      </a:lnTo>
                      <a:cubicBezTo>
                        <a:pt x="23" y="7711"/>
                        <a:pt x="46" y="5100"/>
                        <a:pt x="69" y="249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7D8E27-3785-2F4B-E056-BAF3720271E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50253" y="2852209"/>
                  <a:ext cx="1273818" cy="2139288"/>
                </a:xfrm>
                <a:custGeom>
                  <a:avLst/>
                  <a:gdLst>
                    <a:gd name="csX0" fmla="*/ 0 w 1290596"/>
                    <a:gd name="csY0" fmla="*/ 0 h 2088954"/>
                    <a:gd name="csX1" fmla="*/ 1290596 w 1290596"/>
                    <a:gd name="csY1" fmla="*/ 0 h 2088954"/>
                    <a:gd name="csX2" fmla="*/ 1290596 w 1290596"/>
                    <a:gd name="csY2" fmla="*/ 2088954 h 2088954"/>
                    <a:gd name="csX3" fmla="*/ 0 w 1290596"/>
                    <a:gd name="csY3" fmla="*/ 2088954 h 2088954"/>
                    <a:gd name="csX4" fmla="*/ 0 w 1290596"/>
                    <a:gd name="csY4" fmla="*/ 0 h 2088954"/>
                    <a:gd name="csX0" fmla="*/ 0 w 1290596"/>
                    <a:gd name="csY0" fmla="*/ 0 h 2088954"/>
                    <a:gd name="csX1" fmla="*/ 1282207 w 1290596"/>
                    <a:gd name="csY1" fmla="*/ 469783 h 2088954"/>
                    <a:gd name="csX2" fmla="*/ 1290596 w 1290596"/>
                    <a:gd name="csY2" fmla="*/ 2088954 h 2088954"/>
                    <a:gd name="csX3" fmla="*/ 0 w 1290596"/>
                    <a:gd name="csY3" fmla="*/ 2088954 h 2088954"/>
                    <a:gd name="csX4" fmla="*/ 0 w 1290596"/>
                    <a:gd name="csY4" fmla="*/ 0 h 2088954"/>
                    <a:gd name="csX0" fmla="*/ 0 w 1290596"/>
                    <a:gd name="csY0" fmla="*/ 0 h 2088954"/>
                    <a:gd name="csX1" fmla="*/ 1282207 w 1290596"/>
                    <a:gd name="csY1" fmla="*/ 469783 h 2088954"/>
                    <a:gd name="csX2" fmla="*/ 1290596 w 1290596"/>
                    <a:gd name="csY2" fmla="*/ 2088954 h 2088954"/>
                    <a:gd name="csX3" fmla="*/ 83890 w 1290596"/>
                    <a:gd name="csY3" fmla="*/ 1300388 h 2088954"/>
                    <a:gd name="csX4" fmla="*/ 0 w 1290596"/>
                    <a:gd name="csY4" fmla="*/ 0 h 2088954"/>
                    <a:gd name="csX0" fmla="*/ 0 w 1290596"/>
                    <a:gd name="csY0" fmla="*/ 0 h 2088954"/>
                    <a:gd name="csX1" fmla="*/ 1282207 w 1290596"/>
                    <a:gd name="csY1" fmla="*/ 469783 h 2088954"/>
                    <a:gd name="csX2" fmla="*/ 1290596 w 1290596"/>
                    <a:gd name="csY2" fmla="*/ 2088954 h 2088954"/>
                    <a:gd name="csX3" fmla="*/ 25167 w 1290596"/>
                    <a:gd name="csY3" fmla="*/ 1594003 h 2088954"/>
                    <a:gd name="csX4" fmla="*/ 0 w 1290596"/>
                    <a:gd name="csY4" fmla="*/ 0 h 2088954"/>
                    <a:gd name="csX0" fmla="*/ 0 w 1290596"/>
                    <a:gd name="csY0" fmla="*/ 0 h 2088954"/>
                    <a:gd name="csX1" fmla="*/ 1282207 w 1290596"/>
                    <a:gd name="csY1" fmla="*/ 469783 h 2088954"/>
                    <a:gd name="csX2" fmla="*/ 1290596 w 1290596"/>
                    <a:gd name="csY2" fmla="*/ 2088954 h 2088954"/>
                    <a:gd name="csX3" fmla="*/ 33556 w 1290596"/>
                    <a:gd name="csY3" fmla="*/ 1594003 h 2088954"/>
                    <a:gd name="csX4" fmla="*/ 0 w 1290596"/>
                    <a:gd name="csY4" fmla="*/ 0 h 2088954"/>
                    <a:gd name="csX0" fmla="*/ 0 w 1273818"/>
                    <a:gd name="csY0" fmla="*/ 0 h 2122510"/>
                    <a:gd name="csX1" fmla="*/ 1265429 w 1273818"/>
                    <a:gd name="csY1" fmla="*/ 503339 h 2122510"/>
                    <a:gd name="csX2" fmla="*/ 1273818 w 1273818"/>
                    <a:gd name="csY2" fmla="*/ 2122510 h 2122510"/>
                    <a:gd name="csX3" fmla="*/ 16778 w 1273818"/>
                    <a:gd name="csY3" fmla="*/ 1627559 h 2122510"/>
                    <a:gd name="csX4" fmla="*/ 0 w 1273818"/>
                    <a:gd name="csY4" fmla="*/ 0 h 2122510"/>
                    <a:gd name="csX0" fmla="*/ 0 w 1273818"/>
                    <a:gd name="csY0" fmla="*/ 0 h 2139288"/>
                    <a:gd name="csX1" fmla="*/ 1265429 w 1273818"/>
                    <a:gd name="csY1" fmla="*/ 503339 h 2139288"/>
                    <a:gd name="csX2" fmla="*/ 1273818 w 1273818"/>
                    <a:gd name="csY2" fmla="*/ 2139288 h 2139288"/>
                    <a:gd name="csX3" fmla="*/ 16778 w 1273818"/>
                    <a:gd name="csY3" fmla="*/ 1627559 h 2139288"/>
                    <a:gd name="csX4" fmla="*/ 0 w 1273818"/>
                    <a:gd name="csY4" fmla="*/ 0 h 21392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73818" h="2139288">
                      <a:moveTo>
                        <a:pt x="0" y="0"/>
                      </a:moveTo>
                      <a:lnTo>
                        <a:pt x="1265429" y="503339"/>
                      </a:lnTo>
                      <a:cubicBezTo>
                        <a:pt x="1268225" y="1043063"/>
                        <a:pt x="1271022" y="1599564"/>
                        <a:pt x="1273818" y="2139288"/>
                      </a:cubicBezTo>
                      <a:lnTo>
                        <a:pt x="16778" y="16275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71DFD35-4798-B997-E93A-7A2203369A9B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3233026">
                  <a:off x="3056256" y="1803696"/>
                  <a:ext cx="1479074" cy="2045763"/>
                </a:xfrm>
                <a:custGeom>
                  <a:avLst/>
                  <a:gdLst>
                    <a:gd name="csX0" fmla="*/ 0 w 850215"/>
                    <a:gd name="csY0" fmla="*/ 0 h 614597"/>
                    <a:gd name="csX1" fmla="*/ 850215 w 850215"/>
                    <a:gd name="csY1" fmla="*/ 0 h 614597"/>
                    <a:gd name="csX2" fmla="*/ 850215 w 850215"/>
                    <a:gd name="csY2" fmla="*/ 614597 h 614597"/>
                    <a:gd name="csX3" fmla="*/ 0 w 850215"/>
                    <a:gd name="csY3" fmla="*/ 614597 h 614597"/>
                    <a:gd name="csX4" fmla="*/ 0 w 850215"/>
                    <a:gd name="csY4" fmla="*/ 0 h 614597"/>
                    <a:gd name="csX0" fmla="*/ 324319 w 1174534"/>
                    <a:gd name="csY0" fmla="*/ 0 h 1343734"/>
                    <a:gd name="csX1" fmla="*/ 1174534 w 1174534"/>
                    <a:gd name="csY1" fmla="*/ 0 h 1343734"/>
                    <a:gd name="csX2" fmla="*/ 1174534 w 1174534"/>
                    <a:gd name="csY2" fmla="*/ 614597 h 1343734"/>
                    <a:gd name="csX3" fmla="*/ 0 w 1174534"/>
                    <a:gd name="csY3" fmla="*/ 1343734 h 1343734"/>
                    <a:gd name="csX4" fmla="*/ 324319 w 1174534"/>
                    <a:gd name="csY4" fmla="*/ 0 h 1343734"/>
                    <a:gd name="csX0" fmla="*/ 324319 w 1502517"/>
                    <a:gd name="csY0" fmla="*/ 705694 h 2049428"/>
                    <a:gd name="csX1" fmla="*/ 1502517 w 1502517"/>
                    <a:gd name="csY1" fmla="*/ 0 h 2049428"/>
                    <a:gd name="csX2" fmla="*/ 1174534 w 1502517"/>
                    <a:gd name="csY2" fmla="*/ 1320291 h 2049428"/>
                    <a:gd name="csX3" fmla="*/ 0 w 1502517"/>
                    <a:gd name="csY3" fmla="*/ 2049428 h 2049428"/>
                    <a:gd name="csX4" fmla="*/ 324319 w 1502517"/>
                    <a:gd name="csY4" fmla="*/ 705694 h 2049428"/>
                    <a:gd name="csX0" fmla="*/ 392087 w 1502517"/>
                    <a:gd name="csY0" fmla="*/ 755141 h 2049428"/>
                    <a:gd name="csX1" fmla="*/ 1502517 w 1502517"/>
                    <a:gd name="csY1" fmla="*/ 0 h 2049428"/>
                    <a:gd name="csX2" fmla="*/ 1174534 w 1502517"/>
                    <a:gd name="csY2" fmla="*/ 1320291 h 2049428"/>
                    <a:gd name="csX3" fmla="*/ 0 w 1502517"/>
                    <a:gd name="csY3" fmla="*/ 2049428 h 2049428"/>
                    <a:gd name="csX4" fmla="*/ 392087 w 1502517"/>
                    <a:gd name="csY4" fmla="*/ 755141 h 2049428"/>
                    <a:gd name="csX0" fmla="*/ 349594 w 1502517"/>
                    <a:gd name="csY0" fmla="*/ 713751 h 2049428"/>
                    <a:gd name="csX1" fmla="*/ 1502517 w 1502517"/>
                    <a:gd name="csY1" fmla="*/ 0 h 2049428"/>
                    <a:gd name="csX2" fmla="*/ 1174534 w 1502517"/>
                    <a:gd name="csY2" fmla="*/ 1320291 h 2049428"/>
                    <a:gd name="csX3" fmla="*/ 0 w 1502517"/>
                    <a:gd name="csY3" fmla="*/ 2049428 h 2049428"/>
                    <a:gd name="csX4" fmla="*/ 349594 w 1502517"/>
                    <a:gd name="csY4" fmla="*/ 713751 h 2049428"/>
                    <a:gd name="csX0" fmla="*/ 349594 w 1484571"/>
                    <a:gd name="csY0" fmla="*/ 674922 h 2010599"/>
                    <a:gd name="csX1" fmla="*/ 1484571 w 1484571"/>
                    <a:gd name="csY1" fmla="*/ 0 h 2010599"/>
                    <a:gd name="csX2" fmla="*/ 1174534 w 1484571"/>
                    <a:gd name="csY2" fmla="*/ 1281462 h 2010599"/>
                    <a:gd name="csX3" fmla="*/ 0 w 1484571"/>
                    <a:gd name="csY3" fmla="*/ 2010599 h 2010599"/>
                    <a:gd name="csX4" fmla="*/ 349594 w 1484571"/>
                    <a:gd name="csY4" fmla="*/ 674922 h 2010599"/>
                    <a:gd name="csX0" fmla="*/ 349594 w 1509846"/>
                    <a:gd name="csY0" fmla="*/ 666864 h 2002541"/>
                    <a:gd name="csX1" fmla="*/ 1509846 w 1509846"/>
                    <a:gd name="csY1" fmla="*/ 0 h 2002541"/>
                    <a:gd name="csX2" fmla="*/ 1174534 w 1509846"/>
                    <a:gd name="csY2" fmla="*/ 1273404 h 2002541"/>
                    <a:gd name="csX3" fmla="*/ 0 w 1509846"/>
                    <a:gd name="csY3" fmla="*/ 2002541 h 2002541"/>
                    <a:gd name="csX4" fmla="*/ 349594 w 1509846"/>
                    <a:gd name="csY4" fmla="*/ 666864 h 2002541"/>
                    <a:gd name="csX0" fmla="*/ 349594 w 1479074"/>
                    <a:gd name="csY0" fmla="*/ 710086 h 2045763"/>
                    <a:gd name="csX1" fmla="*/ 1479074 w 1479074"/>
                    <a:gd name="csY1" fmla="*/ 0 h 2045763"/>
                    <a:gd name="csX2" fmla="*/ 1174534 w 1479074"/>
                    <a:gd name="csY2" fmla="*/ 1316626 h 2045763"/>
                    <a:gd name="csX3" fmla="*/ 0 w 1479074"/>
                    <a:gd name="csY3" fmla="*/ 2045763 h 2045763"/>
                    <a:gd name="csX4" fmla="*/ 349594 w 1479074"/>
                    <a:gd name="csY4" fmla="*/ 710086 h 20457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79074" h="2045763">
                      <a:moveTo>
                        <a:pt x="349594" y="710086"/>
                      </a:moveTo>
                      <a:lnTo>
                        <a:pt x="1479074" y="0"/>
                      </a:lnTo>
                      <a:lnTo>
                        <a:pt x="1174534" y="1316626"/>
                      </a:lnTo>
                      <a:lnTo>
                        <a:pt x="0" y="2045763"/>
                      </a:lnTo>
                      <a:lnTo>
                        <a:pt x="349594" y="71008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F53DE7E-629A-51B9-124B-279AA553C6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0475" y="2543175"/>
                <a:ext cx="0" cy="173461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9C49697C-D1A6-2B16-2047-FAB84C5FAC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9100" y="2731935"/>
                <a:ext cx="0" cy="1710185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8CE8A80-4AD8-E7EF-DD2E-E7D3739D8E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9453" y="2026490"/>
                <a:ext cx="1349784" cy="54111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FC1A497-B8C9-F338-4651-FD593B3ED8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36209" y="2180973"/>
                <a:ext cx="1349784" cy="54111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E8B3828-CAB0-500E-1C02-B997DBE3CD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0187" y="2722083"/>
                <a:ext cx="0" cy="172003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43751D12-418C-CCF8-A326-036BE0D53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7893" y="2567600"/>
                <a:ext cx="0" cy="1710185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05A8672-2CB3-90AA-73DC-362515C042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1397" y="2945330"/>
                <a:ext cx="1350520" cy="542582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0DB579E3-2F6D-9428-3454-D46CD484E3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1962" y="3496497"/>
                <a:ext cx="1350520" cy="542582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CFE4A74-6C29-D535-F56C-457D95094D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69874" y="2924967"/>
                <a:ext cx="1287228" cy="551524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8593F68-CBE2-61CD-58D0-8685E3489D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92482" y="3507313"/>
                <a:ext cx="1245041" cy="527886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26B0971-DF83-FA35-367A-7A5C1571C5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2207" y="2183881"/>
                <a:ext cx="1293237" cy="531969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178675D3-FFF4-52A6-4394-A162283D82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69289" y="2030745"/>
                <a:ext cx="1293237" cy="531969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968FCC7E-5307-BFB1-6419-AA6E161DC45F}"/>
                </a:ext>
              </a:extLst>
            </p:cNvPr>
            <p:cNvSpPr>
              <a:spLocks/>
            </p:cNvSpPr>
            <p:nvPr/>
          </p:nvSpPr>
          <p:spPr>
            <a:xfrm>
              <a:off x="3819736" y="2562167"/>
              <a:ext cx="389959" cy="696418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257 w 10000"/>
                <a:gd name="csY3" fmla="*/ 6980 h 10000"/>
                <a:gd name="csX4" fmla="*/ 0 w 10000"/>
                <a:gd name="csY4" fmla="*/ 0 h 10000"/>
                <a:gd name="csX0" fmla="*/ 0 w 10000"/>
                <a:gd name="csY0" fmla="*/ 0 h 9087"/>
                <a:gd name="csX1" fmla="*/ 10000 w 10000"/>
                <a:gd name="csY1" fmla="*/ 0 h 9087"/>
                <a:gd name="csX2" fmla="*/ 10000 w 10000"/>
                <a:gd name="csY2" fmla="*/ 9087 h 9087"/>
                <a:gd name="csX3" fmla="*/ 257 w 10000"/>
                <a:gd name="csY3" fmla="*/ 6980 h 9087"/>
                <a:gd name="csX4" fmla="*/ 0 w 10000"/>
                <a:gd name="csY4" fmla="*/ 0 h 9087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257 w 10000"/>
                <a:gd name="csY3" fmla="*/ 7681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642 w 10000"/>
                <a:gd name="csY3" fmla="*/ 6985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6662 w 10000"/>
                <a:gd name="csY1" fmla="*/ 4174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201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395 w 9496"/>
                <a:gd name="csY0" fmla="*/ 0 h 10387"/>
                <a:gd name="csX1" fmla="*/ 9496 w 9496"/>
                <a:gd name="csY1" fmla="*/ 2165 h 10387"/>
                <a:gd name="csX2" fmla="*/ 9496 w 9496"/>
                <a:gd name="csY2" fmla="*/ 10387 h 10387"/>
                <a:gd name="csX3" fmla="*/ 10 w 9496"/>
                <a:gd name="csY3" fmla="*/ 8068 h 10387"/>
                <a:gd name="csX4" fmla="*/ 395 w 9496"/>
                <a:gd name="csY4" fmla="*/ 0 h 10387"/>
                <a:gd name="csX0" fmla="*/ 0 w 10260"/>
                <a:gd name="csY0" fmla="*/ 0 h 9926"/>
                <a:gd name="csX1" fmla="*/ 10260 w 10260"/>
                <a:gd name="csY1" fmla="*/ 2010 h 9926"/>
                <a:gd name="csX2" fmla="*/ 10260 w 10260"/>
                <a:gd name="csY2" fmla="*/ 9926 h 9926"/>
                <a:gd name="csX3" fmla="*/ 271 w 10260"/>
                <a:gd name="csY3" fmla="*/ 7693 h 9926"/>
                <a:gd name="csX4" fmla="*/ 0 w 10260"/>
                <a:gd name="csY4" fmla="*/ 0 h 9926"/>
                <a:gd name="csX0" fmla="*/ 0 w 10000"/>
                <a:gd name="csY0" fmla="*/ 0 h 10000"/>
                <a:gd name="csX1" fmla="*/ 9868 w 10000"/>
                <a:gd name="csY1" fmla="*/ 2400 h 10000"/>
                <a:gd name="csX2" fmla="*/ 10000 w 10000"/>
                <a:gd name="csY2" fmla="*/ 10000 h 10000"/>
                <a:gd name="csX3" fmla="*/ 264 w 10000"/>
                <a:gd name="csY3" fmla="*/ 7750 h 10000"/>
                <a:gd name="csX4" fmla="*/ 0 w 10000"/>
                <a:gd name="csY4" fmla="*/ 0 h 10000"/>
                <a:gd name="csX0" fmla="*/ 275 w 9748"/>
                <a:gd name="csY0" fmla="*/ 0 h 9175"/>
                <a:gd name="csX1" fmla="*/ 9616 w 9748"/>
                <a:gd name="csY1" fmla="*/ 1575 h 9175"/>
                <a:gd name="csX2" fmla="*/ 9748 w 9748"/>
                <a:gd name="csY2" fmla="*/ 9175 h 9175"/>
                <a:gd name="csX3" fmla="*/ 12 w 9748"/>
                <a:gd name="csY3" fmla="*/ 6925 h 9175"/>
                <a:gd name="csX4" fmla="*/ 275 w 9748"/>
                <a:gd name="csY4" fmla="*/ 0 h 9175"/>
                <a:gd name="csX0" fmla="*/ 282 w 10000"/>
                <a:gd name="csY0" fmla="*/ 0 h 10000"/>
                <a:gd name="csX1" fmla="*/ 8108 w 10000"/>
                <a:gd name="csY1" fmla="*/ 2452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282 w 10000"/>
                <a:gd name="csY0" fmla="*/ 0 h 10000"/>
                <a:gd name="csX1" fmla="*/ 9595 w 10000"/>
                <a:gd name="csY1" fmla="*/ 1471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0 w 10124"/>
                <a:gd name="csY0" fmla="*/ 0 h 10572"/>
                <a:gd name="csX1" fmla="*/ 9719 w 10124"/>
                <a:gd name="csY1" fmla="*/ 2043 h 10572"/>
                <a:gd name="csX2" fmla="*/ 10124 w 10124"/>
                <a:gd name="csY2" fmla="*/ 10572 h 10572"/>
                <a:gd name="csX3" fmla="*/ 136 w 10124"/>
                <a:gd name="csY3" fmla="*/ 8120 h 10572"/>
                <a:gd name="csX4" fmla="*/ 0 w 10124"/>
                <a:gd name="csY4" fmla="*/ 0 h 10572"/>
                <a:gd name="csX0" fmla="*/ 0 w 10124"/>
                <a:gd name="csY0" fmla="*/ 0 h 10817"/>
                <a:gd name="csX1" fmla="*/ 9719 w 10124"/>
                <a:gd name="csY1" fmla="*/ 2288 h 10817"/>
                <a:gd name="csX2" fmla="*/ 10124 w 10124"/>
                <a:gd name="csY2" fmla="*/ 10817 h 10817"/>
                <a:gd name="csX3" fmla="*/ 136 w 10124"/>
                <a:gd name="csY3" fmla="*/ 8365 h 10817"/>
                <a:gd name="csX4" fmla="*/ 0 w 10124"/>
                <a:gd name="csY4" fmla="*/ 0 h 10817"/>
                <a:gd name="csX0" fmla="*/ 0 w 9719"/>
                <a:gd name="csY0" fmla="*/ 0 h 9918"/>
                <a:gd name="csX1" fmla="*/ 9719 w 9719"/>
                <a:gd name="csY1" fmla="*/ 2288 h 9918"/>
                <a:gd name="csX2" fmla="*/ 9043 w 9719"/>
                <a:gd name="csY2" fmla="*/ 9918 h 9918"/>
                <a:gd name="csX3" fmla="*/ 136 w 9719"/>
                <a:gd name="csY3" fmla="*/ 8365 h 9918"/>
                <a:gd name="csX4" fmla="*/ 0 w 9719"/>
                <a:gd name="csY4" fmla="*/ 0 h 9918"/>
                <a:gd name="csX0" fmla="*/ 0 w 10000"/>
                <a:gd name="csY0" fmla="*/ 0 h 10659"/>
                <a:gd name="csX1" fmla="*/ 10000 w 10000"/>
                <a:gd name="csY1" fmla="*/ 2307 h 10659"/>
                <a:gd name="csX2" fmla="*/ 9860 w 10000"/>
                <a:gd name="csY2" fmla="*/ 10659 h 10659"/>
                <a:gd name="csX3" fmla="*/ 140 w 10000"/>
                <a:gd name="csY3" fmla="*/ 8434 h 10659"/>
                <a:gd name="csX4" fmla="*/ 0 w 10000"/>
                <a:gd name="csY4" fmla="*/ 0 h 10659"/>
                <a:gd name="csX0" fmla="*/ 290 w 9873"/>
                <a:gd name="csY0" fmla="*/ 0 h 10577"/>
                <a:gd name="csX1" fmla="*/ 9873 w 9873"/>
                <a:gd name="csY1" fmla="*/ 2225 h 10577"/>
                <a:gd name="csX2" fmla="*/ 9733 w 9873"/>
                <a:gd name="csY2" fmla="*/ 10577 h 10577"/>
                <a:gd name="csX3" fmla="*/ 13 w 9873"/>
                <a:gd name="csY3" fmla="*/ 8352 h 10577"/>
                <a:gd name="csX4" fmla="*/ 290 w 9873"/>
                <a:gd name="csY4" fmla="*/ 0 h 10577"/>
                <a:gd name="csX0" fmla="*/ 26 w 10014"/>
                <a:gd name="csY0" fmla="*/ 0 h 10156"/>
                <a:gd name="csX1" fmla="*/ 10014 w 10014"/>
                <a:gd name="csY1" fmla="*/ 2260 h 10156"/>
                <a:gd name="csX2" fmla="*/ 9872 w 10014"/>
                <a:gd name="csY2" fmla="*/ 10156 h 10156"/>
                <a:gd name="csX3" fmla="*/ 27 w 10014"/>
                <a:gd name="csY3" fmla="*/ 8052 h 10156"/>
                <a:gd name="csX4" fmla="*/ 26 w 10014"/>
                <a:gd name="csY4" fmla="*/ 0 h 10156"/>
                <a:gd name="csX0" fmla="*/ 0 w 10129"/>
                <a:gd name="csY0" fmla="*/ 0 h 10000"/>
                <a:gd name="csX1" fmla="*/ 10129 w 10129"/>
                <a:gd name="csY1" fmla="*/ 2104 h 10000"/>
                <a:gd name="csX2" fmla="*/ 9987 w 10129"/>
                <a:gd name="csY2" fmla="*/ 10000 h 10000"/>
                <a:gd name="csX3" fmla="*/ 142 w 10129"/>
                <a:gd name="csY3" fmla="*/ 7896 h 10000"/>
                <a:gd name="csX4" fmla="*/ 0 w 10129"/>
                <a:gd name="csY4" fmla="*/ 0 h 10000"/>
                <a:gd name="csX0" fmla="*/ 158 w 10005"/>
                <a:gd name="csY0" fmla="*/ 0 h 10078"/>
                <a:gd name="csX1" fmla="*/ 10005 w 10005"/>
                <a:gd name="csY1" fmla="*/ 2182 h 10078"/>
                <a:gd name="csX2" fmla="*/ 9863 w 10005"/>
                <a:gd name="csY2" fmla="*/ 10078 h 10078"/>
                <a:gd name="csX3" fmla="*/ 18 w 10005"/>
                <a:gd name="csY3" fmla="*/ 7974 h 10078"/>
                <a:gd name="csX4" fmla="*/ 158 w 10005"/>
                <a:gd name="csY4" fmla="*/ 0 h 10078"/>
                <a:gd name="csX0" fmla="*/ 572 w 9996"/>
                <a:gd name="csY0" fmla="*/ 0 h 8364"/>
                <a:gd name="csX1" fmla="*/ 9996 w 9996"/>
                <a:gd name="csY1" fmla="*/ 468 h 8364"/>
                <a:gd name="csX2" fmla="*/ 9854 w 9996"/>
                <a:gd name="csY2" fmla="*/ 8364 h 8364"/>
                <a:gd name="csX3" fmla="*/ 9 w 9996"/>
                <a:gd name="csY3" fmla="*/ 6260 h 8364"/>
                <a:gd name="csX4" fmla="*/ 572 w 9996"/>
                <a:gd name="csY4" fmla="*/ 0 h 8364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142 w 10133"/>
                <a:gd name="csY3" fmla="*/ 9253 h 11769"/>
                <a:gd name="csX4" fmla="*/ 0 w 10133"/>
                <a:gd name="csY4" fmla="*/ 0 h 11769"/>
                <a:gd name="csX0" fmla="*/ 49 w 10016"/>
                <a:gd name="csY0" fmla="*/ 0 h 11934"/>
                <a:gd name="csX1" fmla="*/ 10016 w 10016"/>
                <a:gd name="csY1" fmla="*/ 2494 h 11934"/>
                <a:gd name="csX2" fmla="*/ 9874 w 10016"/>
                <a:gd name="csY2" fmla="*/ 11934 h 11934"/>
                <a:gd name="csX3" fmla="*/ 25 w 10016"/>
                <a:gd name="csY3" fmla="*/ 9418 h 11934"/>
                <a:gd name="csX4" fmla="*/ 49 w 10016"/>
                <a:gd name="csY4" fmla="*/ 0 h 11934"/>
                <a:gd name="csX0" fmla="*/ 0 w 10217"/>
                <a:gd name="csY0" fmla="*/ 0 h 11934"/>
                <a:gd name="csX1" fmla="*/ 10217 w 10217"/>
                <a:gd name="csY1" fmla="*/ 2494 h 11934"/>
                <a:gd name="csX2" fmla="*/ 10075 w 10217"/>
                <a:gd name="csY2" fmla="*/ 11934 h 11934"/>
                <a:gd name="csX3" fmla="*/ 226 w 10217"/>
                <a:gd name="csY3" fmla="*/ 9418 h 11934"/>
                <a:gd name="csX4" fmla="*/ 0 w 10217"/>
                <a:gd name="csY4" fmla="*/ 0 h 11934"/>
                <a:gd name="csX0" fmla="*/ 0 w 10217"/>
                <a:gd name="csY0" fmla="*/ 0 h 12058"/>
                <a:gd name="csX1" fmla="*/ 10217 w 10217"/>
                <a:gd name="csY1" fmla="*/ 2494 h 12058"/>
                <a:gd name="csX2" fmla="*/ 10013 w 10217"/>
                <a:gd name="csY2" fmla="*/ 12058 h 12058"/>
                <a:gd name="csX3" fmla="*/ 226 w 10217"/>
                <a:gd name="csY3" fmla="*/ 9418 h 12058"/>
                <a:gd name="csX4" fmla="*/ 0 w 10217"/>
                <a:gd name="csY4" fmla="*/ 0 h 12058"/>
                <a:gd name="csX0" fmla="*/ 0 w 10217"/>
                <a:gd name="csY0" fmla="*/ 0 h 12058"/>
                <a:gd name="csX1" fmla="*/ 10217 w 10217"/>
                <a:gd name="csY1" fmla="*/ 2494 h 12058"/>
                <a:gd name="csX2" fmla="*/ 10013 w 10217"/>
                <a:gd name="csY2" fmla="*/ 12058 h 12058"/>
                <a:gd name="csX3" fmla="*/ 101 w 10217"/>
                <a:gd name="csY3" fmla="*/ 9336 h 12058"/>
                <a:gd name="csX4" fmla="*/ 0 w 10217"/>
                <a:gd name="csY4" fmla="*/ 0 h 12058"/>
                <a:gd name="csX0" fmla="*/ 0 w 10217"/>
                <a:gd name="csY0" fmla="*/ 0 h 12058"/>
                <a:gd name="csX1" fmla="*/ 10217 w 10217"/>
                <a:gd name="csY1" fmla="*/ 2494 h 12058"/>
                <a:gd name="csX2" fmla="*/ 10013 w 10217"/>
                <a:gd name="csY2" fmla="*/ 12058 h 12058"/>
                <a:gd name="csX3" fmla="*/ 101 w 10217"/>
                <a:gd name="csY3" fmla="*/ 9501 h 12058"/>
                <a:gd name="csX4" fmla="*/ 0 w 10217"/>
                <a:gd name="csY4" fmla="*/ 0 h 12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217" h="12058">
                  <a:moveTo>
                    <a:pt x="0" y="0"/>
                  </a:moveTo>
                  <a:lnTo>
                    <a:pt x="10217" y="2494"/>
                  </a:lnTo>
                  <a:cubicBezTo>
                    <a:pt x="9982" y="5392"/>
                    <a:pt x="10248" y="9160"/>
                    <a:pt x="10013" y="12058"/>
                  </a:cubicBezTo>
                  <a:lnTo>
                    <a:pt x="101" y="9501"/>
                  </a:lnTo>
                  <a:cubicBezTo>
                    <a:pt x="6" y="6419"/>
                    <a:pt x="95" y="3085"/>
                    <a:pt x="0" y="0"/>
                  </a:cubicBezTo>
                  <a:close/>
                </a:path>
              </a:pathLst>
            </a:custGeom>
            <a:solidFill>
              <a:srgbClr val="2E86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Process 80">
              <a:extLst>
                <a:ext uri="{FF2B5EF4-FFF2-40B4-BE49-F238E27FC236}">
                  <a16:creationId xmlns:a16="http://schemas.microsoft.com/office/drawing/2014/main" id="{0B9C849B-3D95-09F5-666F-DEEABA403612}"/>
                </a:ext>
              </a:extLst>
            </p:cNvPr>
            <p:cNvSpPr>
              <a:spLocks/>
            </p:cNvSpPr>
            <p:nvPr/>
          </p:nvSpPr>
          <p:spPr>
            <a:xfrm>
              <a:off x="3817869" y="2387521"/>
              <a:ext cx="820583" cy="327184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4790 w 10000"/>
                <a:gd name="csY3" fmla="*/ 10000 h 10000"/>
                <a:gd name="csX4" fmla="*/ 0 w 10000"/>
                <a:gd name="csY4" fmla="*/ 0 h 10000"/>
                <a:gd name="csX0" fmla="*/ 0 w 9863"/>
                <a:gd name="csY0" fmla="*/ 4857 h 10000"/>
                <a:gd name="csX1" fmla="*/ 9863 w 9863"/>
                <a:gd name="csY1" fmla="*/ 0 h 10000"/>
                <a:gd name="csX2" fmla="*/ 9863 w 9863"/>
                <a:gd name="csY2" fmla="*/ 10000 h 10000"/>
                <a:gd name="csX3" fmla="*/ 4653 w 9863"/>
                <a:gd name="csY3" fmla="*/ 10000 h 10000"/>
                <a:gd name="csX4" fmla="*/ 0 w 9863"/>
                <a:gd name="csY4" fmla="*/ 4857 h 10000"/>
                <a:gd name="csX0" fmla="*/ 0 w 10000"/>
                <a:gd name="csY0" fmla="*/ 5014 h 10157"/>
                <a:gd name="csX1" fmla="*/ 5768 w 10000"/>
                <a:gd name="csY1" fmla="*/ 0 h 10157"/>
                <a:gd name="csX2" fmla="*/ 10000 w 10000"/>
                <a:gd name="csY2" fmla="*/ 10157 h 10157"/>
                <a:gd name="csX3" fmla="*/ 4718 w 10000"/>
                <a:gd name="csY3" fmla="*/ 10157 h 10157"/>
                <a:gd name="csX4" fmla="*/ 0 w 10000"/>
                <a:gd name="csY4" fmla="*/ 5014 h 10157"/>
                <a:gd name="csX0" fmla="*/ 0 w 10139"/>
                <a:gd name="csY0" fmla="*/ 5014 h 10157"/>
                <a:gd name="csX1" fmla="*/ 5768 w 10139"/>
                <a:gd name="csY1" fmla="*/ 0 h 10157"/>
                <a:gd name="csX2" fmla="*/ 10139 w 10139"/>
                <a:gd name="csY2" fmla="*/ 4673 h 10157"/>
                <a:gd name="csX3" fmla="*/ 4718 w 10139"/>
                <a:gd name="csY3" fmla="*/ 10157 h 10157"/>
                <a:gd name="csX4" fmla="*/ 0 w 10139"/>
                <a:gd name="csY4" fmla="*/ 5014 h 10157"/>
                <a:gd name="csX0" fmla="*/ 0 w 10208"/>
                <a:gd name="csY0" fmla="*/ 5327 h 10157"/>
                <a:gd name="csX1" fmla="*/ 5837 w 10208"/>
                <a:gd name="csY1" fmla="*/ 0 h 10157"/>
                <a:gd name="csX2" fmla="*/ 10208 w 10208"/>
                <a:gd name="csY2" fmla="*/ 4673 h 10157"/>
                <a:gd name="csX3" fmla="*/ 4787 w 10208"/>
                <a:gd name="csY3" fmla="*/ 10157 h 10157"/>
                <a:gd name="csX4" fmla="*/ 0 w 10208"/>
                <a:gd name="csY4" fmla="*/ 5327 h 10157"/>
                <a:gd name="csX0" fmla="*/ 0 w 10277"/>
                <a:gd name="csY0" fmla="*/ 5014 h 10157"/>
                <a:gd name="csX1" fmla="*/ 5906 w 10277"/>
                <a:gd name="csY1" fmla="*/ 0 h 10157"/>
                <a:gd name="csX2" fmla="*/ 10277 w 10277"/>
                <a:gd name="csY2" fmla="*/ 4673 h 10157"/>
                <a:gd name="csX3" fmla="*/ 4856 w 10277"/>
                <a:gd name="csY3" fmla="*/ 10157 h 10157"/>
                <a:gd name="csX4" fmla="*/ 0 w 10277"/>
                <a:gd name="csY4" fmla="*/ 5014 h 10157"/>
                <a:gd name="csX0" fmla="*/ 0 w 10277"/>
                <a:gd name="csY0" fmla="*/ 4074 h 9217"/>
                <a:gd name="csX1" fmla="*/ 5837 w 10277"/>
                <a:gd name="csY1" fmla="*/ 0 h 9217"/>
                <a:gd name="csX2" fmla="*/ 10277 w 10277"/>
                <a:gd name="csY2" fmla="*/ 3733 h 9217"/>
                <a:gd name="csX3" fmla="*/ 4856 w 10277"/>
                <a:gd name="csY3" fmla="*/ 9217 h 9217"/>
                <a:gd name="csX4" fmla="*/ 0 w 10277"/>
                <a:gd name="csY4" fmla="*/ 4074 h 9217"/>
                <a:gd name="csX0" fmla="*/ 0 w 10000"/>
                <a:gd name="csY0" fmla="*/ 4760 h 10340"/>
                <a:gd name="csX1" fmla="*/ 5680 w 10000"/>
                <a:gd name="csY1" fmla="*/ 0 h 10340"/>
                <a:gd name="csX2" fmla="*/ 10000 w 10000"/>
                <a:gd name="csY2" fmla="*/ 4390 h 10340"/>
                <a:gd name="csX3" fmla="*/ 4725 w 10000"/>
                <a:gd name="csY3" fmla="*/ 10340 h 10340"/>
                <a:gd name="csX4" fmla="*/ 0 w 10000"/>
                <a:gd name="csY4" fmla="*/ 4760 h 10340"/>
                <a:gd name="csX0" fmla="*/ 0 w 10000"/>
                <a:gd name="csY0" fmla="*/ 5440 h 10340"/>
                <a:gd name="csX1" fmla="*/ 5680 w 10000"/>
                <a:gd name="csY1" fmla="*/ 0 h 10340"/>
                <a:gd name="csX2" fmla="*/ 10000 w 10000"/>
                <a:gd name="csY2" fmla="*/ 4390 h 10340"/>
                <a:gd name="csX3" fmla="*/ 4725 w 10000"/>
                <a:gd name="csY3" fmla="*/ 10340 h 10340"/>
                <a:gd name="csX4" fmla="*/ 0 w 10000"/>
                <a:gd name="csY4" fmla="*/ 5440 h 10340"/>
                <a:gd name="csX0" fmla="*/ 0 w 10179"/>
                <a:gd name="csY0" fmla="*/ 5741 h 10340"/>
                <a:gd name="csX1" fmla="*/ 5859 w 10179"/>
                <a:gd name="csY1" fmla="*/ 0 h 10340"/>
                <a:gd name="csX2" fmla="*/ 10179 w 10179"/>
                <a:gd name="csY2" fmla="*/ 4390 h 10340"/>
                <a:gd name="csX3" fmla="*/ 4904 w 10179"/>
                <a:gd name="csY3" fmla="*/ 10340 h 10340"/>
                <a:gd name="csX4" fmla="*/ 0 w 10179"/>
                <a:gd name="csY4" fmla="*/ 5741 h 10340"/>
                <a:gd name="csX0" fmla="*/ 0 w 9900"/>
                <a:gd name="csY0" fmla="*/ 6142 h 10340"/>
                <a:gd name="csX1" fmla="*/ 5580 w 9900"/>
                <a:gd name="csY1" fmla="*/ 0 h 10340"/>
                <a:gd name="csX2" fmla="*/ 9900 w 9900"/>
                <a:gd name="csY2" fmla="*/ 4390 h 10340"/>
                <a:gd name="csX3" fmla="*/ 4625 w 9900"/>
                <a:gd name="csY3" fmla="*/ 10340 h 10340"/>
                <a:gd name="csX4" fmla="*/ 0 w 9900"/>
                <a:gd name="csY4" fmla="*/ 6142 h 10340"/>
                <a:gd name="csX0" fmla="*/ 0 w 9960"/>
                <a:gd name="csY0" fmla="*/ 5746 h 10000"/>
                <a:gd name="csX1" fmla="*/ 5596 w 9960"/>
                <a:gd name="csY1" fmla="*/ 0 h 10000"/>
                <a:gd name="csX2" fmla="*/ 9960 w 9960"/>
                <a:gd name="csY2" fmla="*/ 4246 h 10000"/>
                <a:gd name="csX3" fmla="*/ 4632 w 9960"/>
                <a:gd name="csY3" fmla="*/ 10000 h 10000"/>
                <a:gd name="csX4" fmla="*/ 0 w 9960"/>
                <a:gd name="csY4" fmla="*/ 5746 h 10000"/>
                <a:gd name="csX0" fmla="*/ 0 w 10162"/>
                <a:gd name="csY0" fmla="*/ 5746 h 10000"/>
                <a:gd name="csX1" fmla="*/ 5618 w 10162"/>
                <a:gd name="csY1" fmla="*/ 0 h 10000"/>
                <a:gd name="csX2" fmla="*/ 10162 w 10162"/>
                <a:gd name="csY2" fmla="*/ 4537 h 10000"/>
                <a:gd name="csX3" fmla="*/ 4651 w 10162"/>
                <a:gd name="csY3" fmla="*/ 10000 h 10000"/>
                <a:gd name="csX4" fmla="*/ 0 w 10162"/>
                <a:gd name="csY4" fmla="*/ 5746 h 10000"/>
                <a:gd name="csX0" fmla="*/ 0 w 10324"/>
                <a:gd name="csY0" fmla="*/ 5552 h 10000"/>
                <a:gd name="csX1" fmla="*/ 5780 w 10324"/>
                <a:gd name="csY1" fmla="*/ 0 h 10000"/>
                <a:gd name="csX2" fmla="*/ 10324 w 10324"/>
                <a:gd name="csY2" fmla="*/ 4537 h 10000"/>
                <a:gd name="csX3" fmla="*/ 4813 w 10324"/>
                <a:gd name="csY3" fmla="*/ 10000 h 10000"/>
                <a:gd name="csX4" fmla="*/ 0 w 10324"/>
                <a:gd name="csY4" fmla="*/ 5552 h 10000"/>
                <a:gd name="csX0" fmla="*/ 0 w 10445"/>
                <a:gd name="csY0" fmla="*/ 5649 h 10000"/>
                <a:gd name="csX1" fmla="*/ 5901 w 10445"/>
                <a:gd name="csY1" fmla="*/ 0 h 10000"/>
                <a:gd name="csX2" fmla="*/ 10445 w 10445"/>
                <a:gd name="csY2" fmla="*/ 4537 h 10000"/>
                <a:gd name="csX3" fmla="*/ 4934 w 10445"/>
                <a:gd name="csY3" fmla="*/ 10000 h 10000"/>
                <a:gd name="csX4" fmla="*/ 0 w 10445"/>
                <a:gd name="csY4" fmla="*/ 5649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45" h="10000">
                  <a:moveTo>
                    <a:pt x="0" y="5649"/>
                  </a:moveTo>
                  <a:lnTo>
                    <a:pt x="5901" y="0"/>
                  </a:lnTo>
                  <a:lnTo>
                    <a:pt x="10445" y="4537"/>
                  </a:lnTo>
                  <a:lnTo>
                    <a:pt x="4934" y="10000"/>
                  </a:lnTo>
                  <a:lnTo>
                    <a:pt x="0" y="5649"/>
                  </a:lnTo>
                  <a:close/>
                </a:path>
              </a:pathLst>
            </a:custGeom>
            <a:solidFill>
              <a:srgbClr val="2E86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Process 78">
              <a:extLst>
                <a:ext uri="{FF2B5EF4-FFF2-40B4-BE49-F238E27FC236}">
                  <a16:creationId xmlns:a16="http://schemas.microsoft.com/office/drawing/2014/main" id="{B4180616-509B-2B21-9804-69315F17A6D3}"/>
                </a:ext>
              </a:extLst>
            </p:cNvPr>
            <p:cNvSpPr>
              <a:spLocks/>
            </p:cNvSpPr>
            <p:nvPr/>
          </p:nvSpPr>
          <p:spPr>
            <a:xfrm>
              <a:off x="4246511" y="3893100"/>
              <a:ext cx="454398" cy="673483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257 w 10000"/>
                <a:gd name="csY3" fmla="*/ 6980 h 10000"/>
                <a:gd name="csX4" fmla="*/ 0 w 10000"/>
                <a:gd name="csY4" fmla="*/ 0 h 10000"/>
                <a:gd name="csX0" fmla="*/ 0 w 10000"/>
                <a:gd name="csY0" fmla="*/ 0 h 9087"/>
                <a:gd name="csX1" fmla="*/ 10000 w 10000"/>
                <a:gd name="csY1" fmla="*/ 0 h 9087"/>
                <a:gd name="csX2" fmla="*/ 10000 w 10000"/>
                <a:gd name="csY2" fmla="*/ 9087 h 9087"/>
                <a:gd name="csX3" fmla="*/ 257 w 10000"/>
                <a:gd name="csY3" fmla="*/ 6980 h 9087"/>
                <a:gd name="csX4" fmla="*/ 0 w 10000"/>
                <a:gd name="csY4" fmla="*/ 0 h 9087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257 w 10000"/>
                <a:gd name="csY3" fmla="*/ 7681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642 w 10000"/>
                <a:gd name="csY3" fmla="*/ 6985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6662 w 10000"/>
                <a:gd name="csY1" fmla="*/ 4174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201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395 w 9496"/>
                <a:gd name="csY0" fmla="*/ 0 h 10387"/>
                <a:gd name="csX1" fmla="*/ 9496 w 9496"/>
                <a:gd name="csY1" fmla="*/ 2165 h 10387"/>
                <a:gd name="csX2" fmla="*/ 9496 w 9496"/>
                <a:gd name="csY2" fmla="*/ 10387 h 10387"/>
                <a:gd name="csX3" fmla="*/ 10 w 9496"/>
                <a:gd name="csY3" fmla="*/ 8068 h 10387"/>
                <a:gd name="csX4" fmla="*/ 395 w 9496"/>
                <a:gd name="csY4" fmla="*/ 0 h 10387"/>
                <a:gd name="csX0" fmla="*/ 0 w 10260"/>
                <a:gd name="csY0" fmla="*/ 0 h 9926"/>
                <a:gd name="csX1" fmla="*/ 10260 w 10260"/>
                <a:gd name="csY1" fmla="*/ 2010 h 9926"/>
                <a:gd name="csX2" fmla="*/ 10260 w 10260"/>
                <a:gd name="csY2" fmla="*/ 9926 h 9926"/>
                <a:gd name="csX3" fmla="*/ 271 w 10260"/>
                <a:gd name="csY3" fmla="*/ 7693 h 9926"/>
                <a:gd name="csX4" fmla="*/ 0 w 10260"/>
                <a:gd name="csY4" fmla="*/ 0 h 9926"/>
                <a:gd name="csX0" fmla="*/ 0 w 10000"/>
                <a:gd name="csY0" fmla="*/ 0 h 10000"/>
                <a:gd name="csX1" fmla="*/ 9868 w 10000"/>
                <a:gd name="csY1" fmla="*/ 2400 h 10000"/>
                <a:gd name="csX2" fmla="*/ 10000 w 10000"/>
                <a:gd name="csY2" fmla="*/ 10000 h 10000"/>
                <a:gd name="csX3" fmla="*/ 264 w 10000"/>
                <a:gd name="csY3" fmla="*/ 7750 h 10000"/>
                <a:gd name="csX4" fmla="*/ 0 w 10000"/>
                <a:gd name="csY4" fmla="*/ 0 h 10000"/>
                <a:gd name="csX0" fmla="*/ 275 w 9748"/>
                <a:gd name="csY0" fmla="*/ 0 h 9175"/>
                <a:gd name="csX1" fmla="*/ 9616 w 9748"/>
                <a:gd name="csY1" fmla="*/ 1575 h 9175"/>
                <a:gd name="csX2" fmla="*/ 9748 w 9748"/>
                <a:gd name="csY2" fmla="*/ 9175 h 9175"/>
                <a:gd name="csX3" fmla="*/ 12 w 9748"/>
                <a:gd name="csY3" fmla="*/ 6925 h 9175"/>
                <a:gd name="csX4" fmla="*/ 275 w 9748"/>
                <a:gd name="csY4" fmla="*/ 0 h 9175"/>
                <a:gd name="csX0" fmla="*/ 282 w 10000"/>
                <a:gd name="csY0" fmla="*/ 0 h 10000"/>
                <a:gd name="csX1" fmla="*/ 8108 w 10000"/>
                <a:gd name="csY1" fmla="*/ 2452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282 w 10000"/>
                <a:gd name="csY0" fmla="*/ 0 h 10000"/>
                <a:gd name="csX1" fmla="*/ 9595 w 10000"/>
                <a:gd name="csY1" fmla="*/ 1471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0 w 10124"/>
                <a:gd name="csY0" fmla="*/ 0 h 10572"/>
                <a:gd name="csX1" fmla="*/ 9719 w 10124"/>
                <a:gd name="csY1" fmla="*/ 2043 h 10572"/>
                <a:gd name="csX2" fmla="*/ 10124 w 10124"/>
                <a:gd name="csY2" fmla="*/ 10572 h 10572"/>
                <a:gd name="csX3" fmla="*/ 136 w 10124"/>
                <a:gd name="csY3" fmla="*/ 8120 h 10572"/>
                <a:gd name="csX4" fmla="*/ 0 w 10124"/>
                <a:gd name="csY4" fmla="*/ 0 h 10572"/>
                <a:gd name="csX0" fmla="*/ 0 w 10124"/>
                <a:gd name="csY0" fmla="*/ 0 h 10817"/>
                <a:gd name="csX1" fmla="*/ 9719 w 10124"/>
                <a:gd name="csY1" fmla="*/ 2288 h 10817"/>
                <a:gd name="csX2" fmla="*/ 10124 w 10124"/>
                <a:gd name="csY2" fmla="*/ 10817 h 10817"/>
                <a:gd name="csX3" fmla="*/ 136 w 10124"/>
                <a:gd name="csY3" fmla="*/ 8365 h 10817"/>
                <a:gd name="csX4" fmla="*/ 0 w 10124"/>
                <a:gd name="csY4" fmla="*/ 0 h 10817"/>
                <a:gd name="csX0" fmla="*/ 0 w 9719"/>
                <a:gd name="csY0" fmla="*/ 0 h 9918"/>
                <a:gd name="csX1" fmla="*/ 9719 w 9719"/>
                <a:gd name="csY1" fmla="*/ 2288 h 9918"/>
                <a:gd name="csX2" fmla="*/ 9043 w 9719"/>
                <a:gd name="csY2" fmla="*/ 9918 h 9918"/>
                <a:gd name="csX3" fmla="*/ 136 w 9719"/>
                <a:gd name="csY3" fmla="*/ 8365 h 9918"/>
                <a:gd name="csX4" fmla="*/ 0 w 9719"/>
                <a:gd name="csY4" fmla="*/ 0 h 9918"/>
                <a:gd name="csX0" fmla="*/ 0 w 10000"/>
                <a:gd name="csY0" fmla="*/ 0 h 10659"/>
                <a:gd name="csX1" fmla="*/ 10000 w 10000"/>
                <a:gd name="csY1" fmla="*/ 2307 h 10659"/>
                <a:gd name="csX2" fmla="*/ 9860 w 10000"/>
                <a:gd name="csY2" fmla="*/ 10659 h 10659"/>
                <a:gd name="csX3" fmla="*/ 140 w 10000"/>
                <a:gd name="csY3" fmla="*/ 8434 h 10659"/>
                <a:gd name="csX4" fmla="*/ 0 w 10000"/>
                <a:gd name="csY4" fmla="*/ 0 h 10659"/>
                <a:gd name="csX0" fmla="*/ 290 w 9873"/>
                <a:gd name="csY0" fmla="*/ 0 h 10577"/>
                <a:gd name="csX1" fmla="*/ 9873 w 9873"/>
                <a:gd name="csY1" fmla="*/ 2225 h 10577"/>
                <a:gd name="csX2" fmla="*/ 9733 w 9873"/>
                <a:gd name="csY2" fmla="*/ 10577 h 10577"/>
                <a:gd name="csX3" fmla="*/ 13 w 9873"/>
                <a:gd name="csY3" fmla="*/ 8352 h 10577"/>
                <a:gd name="csX4" fmla="*/ 290 w 9873"/>
                <a:gd name="csY4" fmla="*/ 0 h 10577"/>
                <a:gd name="csX0" fmla="*/ 26 w 10014"/>
                <a:gd name="csY0" fmla="*/ 0 h 10156"/>
                <a:gd name="csX1" fmla="*/ 10014 w 10014"/>
                <a:gd name="csY1" fmla="*/ 2260 h 10156"/>
                <a:gd name="csX2" fmla="*/ 9872 w 10014"/>
                <a:gd name="csY2" fmla="*/ 10156 h 10156"/>
                <a:gd name="csX3" fmla="*/ 27 w 10014"/>
                <a:gd name="csY3" fmla="*/ 8052 h 10156"/>
                <a:gd name="csX4" fmla="*/ 26 w 10014"/>
                <a:gd name="csY4" fmla="*/ 0 h 10156"/>
                <a:gd name="csX0" fmla="*/ 0 w 10129"/>
                <a:gd name="csY0" fmla="*/ 0 h 10000"/>
                <a:gd name="csX1" fmla="*/ 10129 w 10129"/>
                <a:gd name="csY1" fmla="*/ 2104 h 10000"/>
                <a:gd name="csX2" fmla="*/ 9987 w 10129"/>
                <a:gd name="csY2" fmla="*/ 10000 h 10000"/>
                <a:gd name="csX3" fmla="*/ 142 w 10129"/>
                <a:gd name="csY3" fmla="*/ 7896 h 10000"/>
                <a:gd name="csX4" fmla="*/ 0 w 10129"/>
                <a:gd name="csY4" fmla="*/ 0 h 10000"/>
                <a:gd name="csX0" fmla="*/ 158 w 10005"/>
                <a:gd name="csY0" fmla="*/ 0 h 10078"/>
                <a:gd name="csX1" fmla="*/ 10005 w 10005"/>
                <a:gd name="csY1" fmla="*/ 2182 h 10078"/>
                <a:gd name="csX2" fmla="*/ 9863 w 10005"/>
                <a:gd name="csY2" fmla="*/ 10078 h 10078"/>
                <a:gd name="csX3" fmla="*/ 18 w 10005"/>
                <a:gd name="csY3" fmla="*/ 7974 h 10078"/>
                <a:gd name="csX4" fmla="*/ 158 w 10005"/>
                <a:gd name="csY4" fmla="*/ 0 h 10078"/>
                <a:gd name="csX0" fmla="*/ 572 w 9996"/>
                <a:gd name="csY0" fmla="*/ 0 h 8364"/>
                <a:gd name="csX1" fmla="*/ 9996 w 9996"/>
                <a:gd name="csY1" fmla="*/ 468 h 8364"/>
                <a:gd name="csX2" fmla="*/ 9854 w 9996"/>
                <a:gd name="csY2" fmla="*/ 8364 h 8364"/>
                <a:gd name="csX3" fmla="*/ 9 w 9996"/>
                <a:gd name="csY3" fmla="*/ 6260 h 8364"/>
                <a:gd name="csX4" fmla="*/ 572 w 9996"/>
                <a:gd name="csY4" fmla="*/ 0 h 8364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142 w 10133"/>
                <a:gd name="csY3" fmla="*/ 9253 h 11769"/>
                <a:gd name="csX4" fmla="*/ 0 w 10133"/>
                <a:gd name="csY4" fmla="*/ 0 h 11769"/>
                <a:gd name="csX0" fmla="*/ 0 w 10133"/>
                <a:gd name="csY0" fmla="*/ 0 h 12361"/>
                <a:gd name="csX1" fmla="*/ 10133 w 10133"/>
                <a:gd name="csY1" fmla="*/ 2329 h 12361"/>
                <a:gd name="csX2" fmla="*/ 9870 w 10133"/>
                <a:gd name="csY2" fmla="*/ 12361 h 12361"/>
                <a:gd name="csX3" fmla="*/ 142 w 10133"/>
                <a:gd name="csY3" fmla="*/ 9253 h 12361"/>
                <a:gd name="csX4" fmla="*/ 0 w 10133"/>
                <a:gd name="csY4" fmla="*/ 0 h 12361"/>
                <a:gd name="csX0" fmla="*/ 0 w 9904"/>
                <a:gd name="csY0" fmla="*/ 0 h 12361"/>
                <a:gd name="csX1" fmla="*/ 9283 w 9904"/>
                <a:gd name="csY1" fmla="*/ 4007 h 12361"/>
                <a:gd name="csX2" fmla="*/ 9870 w 9904"/>
                <a:gd name="csY2" fmla="*/ 12361 h 12361"/>
                <a:gd name="csX3" fmla="*/ 142 w 9904"/>
                <a:gd name="csY3" fmla="*/ 9253 h 12361"/>
                <a:gd name="csX4" fmla="*/ 0 w 9904"/>
                <a:gd name="csY4" fmla="*/ 0 h 12361"/>
                <a:gd name="csX0" fmla="*/ 0 w 10231"/>
                <a:gd name="csY0" fmla="*/ 0 h 10000"/>
                <a:gd name="csX1" fmla="*/ 10231 w 10231"/>
                <a:gd name="csY1" fmla="*/ 2603 h 10000"/>
                <a:gd name="csX2" fmla="*/ 9966 w 10231"/>
                <a:gd name="csY2" fmla="*/ 10000 h 10000"/>
                <a:gd name="csX3" fmla="*/ 143 w 10231"/>
                <a:gd name="csY3" fmla="*/ 7486 h 10000"/>
                <a:gd name="csX4" fmla="*/ 0 w 10231"/>
                <a:gd name="csY4" fmla="*/ 0 h 10000"/>
                <a:gd name="csX0" fmla="*/ 0 w 10108"/>
                <a:gd name="csY0" fmla="*/ 0 h 10000"/>
                <a:gd name="csX1" fmla="*/ 10108 w 10108"/>
                <a:gd name="csY1" fmla="*/ 2443 h 10000"/>
                <a:gd name="csX2" fmla="*/ 9966 w 10108"/>
                <a:gd name="csY2" fmla="*/ 10000 h 10000"/>
                <a:gd name="csX3" fmla="*/ 143 w 10108"/>
                <a:gd name="csY3" fmla="*/ 7486 h 10000"/>
                <a:gd name="csX4" fmla="*/ 0 w 10108"/>
                <a:gd name="csY4" fmla="*/ 0 h 10000"/>
                <a:gd name="csX0" fmla="*/ 0 w 10269"/>
                <a:gd name="csY0" fmla="*/ 0 h 10000"/>
                <a:gd name="csX1" fmla="*/ 10108 w 10269"/>
                <a:gd name="csY1" fmla="*/ 2443 h 10000"/>
                <a:gd name="csX2" fmla="*/ 10211 w 10269"/>
                <a:gd name="csY2" fmla="*/ 10000 h 10000"/>
                <a:gd name="csX3" fmla="*/ 143 w 10269"/>
                <a:gd name="csY3" fmla="*/ 7486 h 10000"/>
                <a:gd name="csX4" fmla="*/ 0 w 10269"/>
                <a:gd name="csY4" fmla="*/ 0 h 10000"/>
                <a:gd name="csX0" fmla="*/ 0 w 10353"/>
                <a:gd name="csY0" fmla="*/ 0 h 10000"/>
                <a:gd name="csX1" fmla="*/ 10353 w 10353"/>
                <a:gd name="csY1" fmla="*/ 2523 h 10000"/>
                <a:gd name="csX2" fmla="*/ 10211 w 10353"/>
                <a:gd name="csY2" fmla="*/ 10000 h 10000"/>
                <a:gd name="csX3" fmla="*/ 143 w 10353"/>
                <a:gd name="csY3" fmla="*/ 7486 h 10000"/>
                <a:gd name="csX4" fmla="*/ 0 w 10353"/>
                <a:gd name="csY4" fmla="*/ 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353" h="10000">
                  <a:moveTo>
                    <a:pt x="0" y="0"/>
                  </a:moveTo>
                  <a:lnTo>
                    <a:pt x="10353" y="2523"/>
                  </a:lnTo>
                  <a:cubicBezTo>
                    <a:pt x="10116" y="4867"/>
                    <a:pt x="10448" y="7656"/>
                    <a:pt x="10211" y="10000"/>
                  </a:cubicBezTo>
                  <a:lnTo>
                    <a:pt x="143" y="7486"/>
                  </a:lnTo>
                  <a:cubicBezTo>
                    <a:pt x="47" y="4992"/>
                    <a:pt x="96" y="2496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lowchart: Process 78">
              <a:extLst>
                <a:ext uri="{FF2B5EF4-FFF2-40B4-BE49-F238E27FC236}">
                  <a16:creationId xmlns:a16="http://schemas.microsoft.com/office/drawing/2014/main" id="{82E57068-FC12-3252-D04E-113D113A38F1}"/>
                </a:ext>
              </a:extLst>
            </p:cNvPr>
            <p:cNvSpPr>
              <a:spLocks/>
            </p:cNvSpPr>
            <p:nvPr/>
          </p:nvSpPr>
          <p:spPr>
            <a:xfrm flipV="1">
              <a:off x="4684922" y="3882371"/>
              <a:ext cx="416752" cy="684252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257 w 10000"/>
                <a:gd name="csY3" fmla="*/ 6980 h 10000"/>
                <a:gd name="csX4" fmla="*/ 0 w 10000"/>
                <a:gd name="csY4" fmla="*/ 0 h 10000"/>
                <a:gd name="csX0" fmla="*/ 0 w 10000"/>
                <a:gd name="csY0" fmla="*/ 0 h 9087"/>
                <a:gd name="csX1" fmla="*/ 10000 w 10000"/>
                <a:gd name="csY1" fmla="*/ 0 h 9087"/>
                <a:gd name="csX2" fmla="*/ 10000 w 10000"/>
                <a:gd name="csY2" fmla="*/ 9087 h 9087"/>
                <a:gd name="csX3" fmla="*/ 257 w 10000"/>
                <a:gd name="csY3" fmla="*/ 6980 h 9087"/>
                <a:gd name="csX4" fmla="*/ 0 w 10000"/>
                <a:gd name="csY4" fmla="*/ 0 h 9087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257 w 10000"/>
                <a:gd name="csY3" fmla="*/ 7681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642 w 10000"/>
                <a:gd name="csY3" fmla="*/ 6985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6662 w 10000"/>
                <a:gd name="csY1" fmla="*/ 4174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201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395 w 9496"/>
                <a:gd name="csY0" fmla="*/ 0 h 10387"/>
                <a:gd name="csX1" fmla="*/ 9496 w 9496"/>
                <a:gd name="csY1" fmla="*/ 2165 h 10387"/>
                <a:gd name="csX2" fmla="*/ 9496 w 9496"/>
                <a:gd name="csY2" fmla="*/ 10387 h 10387"/>
                <a:gd name="csX3" fmla="*/ 10 w 9496"/>
                <a:gd name="csY3" fmla="*/ 8068 h 10387"/>
                <a:gd name="csX4" fmla="*/ 395 w 9496"/>
                <a:gd name="csY4" fmla="*/ 0 h 10387"/>
                <a:gd name="csX0" fmla="*/ 0 w 10260"/>
                <a:gd name="csY0" fmla="*/ 0 h 9926"/>
                <a:gd name="csX1" fmla="*/ 10260 w 10260"/>
                <a:gd name="csY1" fmla="*/ 2010 h 9926"/>
                <a:gd name="csX2" fmla="*/ 10260 w 10260"/>
                <a:gd name="csY2" fmla="*/ 9926 h 9926"/>
                <a:gd name="csX3" fmla="*/ 271 w 10260"/>
                <a:gd name="csY3" fmla="*/ 7693 h 9926"/>
                <a:gd name="csX4" fmla="*/ 0 w 10260"/>
                <a:gd name="csY4" fmla="*/ 0 h 9926"/>
                <a:gd name="csX0" fmla="*/ 0 w 10000"/>
                <a:gd name="csY0" fmla="*/ 0 h 10000"/>
                <a:gd name="csX1" fmla="*/ 9868 w 10000"/>
                <a:gd name="csY1" fmla="*/ 2400 h 10000"/>
                <a:gd name="csX2" fmla="*/ 10000 w 10000"/>
                <a:gd name="csY2" fmla="*/ 10000 h 10000"/>
                <a:gd name="csX3" fmla="*/ 264 w 10000"/>
                <a:gd name="csY3" fmla="*/ 7750 h 10000"/>
                <a:gd name="csX4" fmla="*/ 0 w 10000"/>
                <a:gd name="csY4" fmla="*/ 0 h 10000"/>
                <a:gd name="csX0" fmla="*/ 275 w 9748"/>
                <a:gd name="csY0" fmla="*/ 0 h 9175"/>
                <a:gd name="csX1" fmla="*/ 9616 w 9748"/>
                <a:gd name="csY1" fmla="*/ 1575 h 9175"/>
                <a:gd name="csX2" fmla="*/ 9748 w 9748"/>
                <a:gd name="csY2" fmla="*/ 9175 h 9175"/>
                <a:gd name="csX3" fmla="*/ 12 w 9748"/>
                <a:gd name="csY3" fmla="*/ 6925 h 9175"/>
                <a:gd name="csX4" fmla="*/ 275 w 9748"/>
                <a:gd name="csY4" fmla="*/ 0 h 9175"/>
                <a:gd name="csX0" fmla="*/ 282 w 10000"/>
                <a:gd name="csY0" fmla="*/ 0 h 10000"/>
                <a:gd name="csX1" fmla="*/ 8108 w 10000"/>
                <a:gd name="csY1" fmla="*/ 2452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282 w 10000"/>
                <a:gd name="csY0" fmla="*/ 0 h 10000"/>
                <a:gd name="csX1" fmla="*/ 9595 w 10000"/>
                <a:gd name="csY1" fmla="*/ 1471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0 w 10124"/>
                <a:gd name="csY0" fmla="*/ 0 h 10572"/>
                <a:gd name="csX1" fmla="*/ 9719 w 10124"/>
                <a:gd name="csY1" fmla="*/ 2043 h 10572"/>
                <a:gd name="csX2" fmla="*/ 10124 w 10124"/>
                <a:gd name="csY2" fmla="*/ 10572 h 10572"/>
                <a:gd name="csX3" fmla="*/ 136 w 10124"/>
                <a:gd name="csY3" fmla="*/ 8120 h 10572"/>
                <a:gd name="csX4" fmla="*/ 0 w 10124"/>
                <a:gd name="csY4" fmla="*/ 0 h 10572"/>
                <a:gd name="csX0" fmla="*/ 0 w 10124"/>
                <a:gd name="csY0" fmla="*/ 0 h 10817"/>
                <a:gd name="csX1" fmla="*/ 9719 w 10124"/>
                <a:gd name="csY1" fmla="*/ 2288 h 10817"/>
                <a:gd name="csX2" fmla="*/ 10124 w 10124"/>
                <a:gd name="csY2" fmla="*/ 10817 h 10817"/>
                <a:gd name="csX3" fmla="*/ 136 w 10124"/>
                <a:gd name="csY3" fmla="*/ 8365 h 10817"/>
                <a:gd name="csX4" fmla="*/ 0 w 10124"/>
                <a:gd name="csY4" fmla="*/ 0 h 10817"/>
                <a:gd name="csX0" fmla="*/ 0 w 9719"/>
                <a:gd name="csY0" fmla="*/ 0 h 9918"/>
                <a:gd name="csX1" fmla="*/ 9719 w 9719"/>
                <a:gd name="csY1" fmla="*/ 2288 h 9918"/>
                <a:gd name="csX2" fmla="*/ 9043 w 9719"/>
                <a:gd name="csY2" fmla="*/ 9918 h 9918"/>
                <a:gd name="csX3" fmla="*/ 136 w 9719"/>
                <a:gd name="csY3" fmla="*/ 8365 h 9918"/>
                <a:gd name="csX4" fmla="*/ 0 w 9719"/>
                <a:gd name="csY4" fmla="*/ 0 h 9918"/>
                <a:gd name="csX0" fmla="*/ 0 w 10000"/>
                <a:gd name="csY0" fmla="*/ 0 h 10659"/>
                <a:gd name="csX1" fmla="*/ 10000 w 10000"/>
                <a:gd name="csY1" fmla="*/ 2307 h 10659"/>
                <a:gd name="csX2" fmla="*/ 9860 w 10000"/>
                <a:gd name="csY2" fmla="*/ 10659 h 10659"/>
                <a:gd name="csX3" fmla="*/ 140 w 10000"/>
                <a:gd name="csY3" fmla="*/ 8434 h 10659"/>
                <a:gd name="csX4" fmla="*/ 0 w 10000"/>
                <a:gd name="csY4" fmla="*/ 0 h 10659"/>
                <a:gd name="csX0" fmla="*/ 290 w 9873"/>
                <a:gd name="csY0" fmla="*/ 0 h 10577"/>
                <a:gd name="csX1" fmla="*/ 9873 w 9873"/>
                <a:gd name="csY1" fmla="*/ 2225 h 10577"/>
                <a:gd name="csX2" fmla="*/ 9733 w 9873"/>
                <a:gd name="csY2" fmla="*/ 10577 h 10577"/>
                <a:gd name="csX3" fmla="*/ 13 w 9873"/>
                <a:gd name="csY3" fmla="*/ 8352 h 10577"/>
                <a:gd name="csX4" fmla="*/ 290 w 9873"/>
                <a:gd name="csY4" fmla="*/ 0 h 10577"/>
                <a:gd name="csX0" fmla="*/ 26 w 10014"/>
                <a:gd name="csY0" fmla="*/ 0 h 10156"/>
                <a:gd name="csX1" fmla="*/ 10014 w 10014"/>
                <a:gd name="csY1" fmla="*/ 2260 h 10156"/>
                <a:gd name="csX2" fmla="*/ 9872 w 10014"/>
                <a:gd name="csY2" fmla="*/ 10156 h 10156"/>
                <a:gd name="csX3" fmla="*/ 27 w 10014"/>
                <a:gd name="csY3" fmla="*/ 8052 h 10156"/>
                <a:gd name="csX4" fmla="*/ 26 w 10014"/>
                <a:gd name="csY4" fmla="*/ 0 h 10156"/>
                <a:gd name="csX0" fmla="*/ 0 w 10129"/>
                <a:gd name="csY0" fmla="*/ 0 h 10000"/>
                <a:gd name="csX1" fmla="*/ 10129 w 10129"/>
                <a:gd name="csY1" fmla="*/ 2104 h 10000"/>
                <a:gd name="csX2" fmla="*/ 9987 w 10129"/>
                <a:gd name="csY2" fmla="*/ 10000 h 10000"/>
                <a:gd name="csX3" fmla="*/ 142 w 10129"/>
                <a:gd name="csY3" fmla="*/ 7896 h 10000"/>
                <a:gd name="csX4" fmla="*/ 0 w 10129"/>
                <a:gd name="csY4" fmla="*/ 0 h 10000"/>
                <a:gd name="csX0" fmla="*/ 158 w 10005"/>
                <a:gd name="csY0" fmla="*/ 0 h 10078"/>
                <a:gd name="csX1" fmla="*/ 10005 w 10005"/>
                <a:gd name="csY1" fmla="*/ 2182 h 10078"/>
                <a:gd name="csX2" fmla="*/ 9863 w 10005"/>
                <a:gd name="csY2" fmla="*/ 10078 h 10078"/>
                <a:gd name="csX3" fmla="*/ 18 w 10005"/>
                <a:gd name="csY3" fmla="*/ 7974 h 10078"/>
                <a:gd name="csX4" fmla="*/ 158 w 10005"/>
                <a:gd name="csY4" fmla="*/ 0 h 10078"/>
                <a:gd name="csX0" fmla="*/ 572 w 9996"/>
                <a:gd name="csY0" fmla="*/ 0 h 8364"/>
                <a:gd name="csX1" fmla="*/ 9996 w 9996"/>
                <a:gd name="csY1" fmla="*/ 468 h 8364"/>
                <a:gd name="csX2" fmla="*/ 9854 w 9996"/>
                <a:gd name="csY2" fmla="*/ 8364 h 8364"/>
                <a:gd name="csX3" fmla="*/ 9 w 9996"/>
                <a:gd name="csY3" fmla="*/ 6260 h 8364"/>
                <a:gd name="csX4" fmla="*/ 572 w 9996"/>
                <a:gd name="csY4" fmla="*/ 0 h 8364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142 w 10133"/>
                <a:gd name="csY3" fmla="*/ 9253 h 11769"/>
                <a:gd name="csX4" fmla="*/ 0 w 10133"/>
                <a:gd name="csY4" fmla="*/ 0 h 11769"/>
                <a:gd name="csX0" fmla="*/ 0 w 10133"/>
                <a:gd name="csY0" fmla="*/ 0 h 12361"/>
                <a:gd name="csX1" fmla="*/ 10133 w 10133"/>
                <a:gd name="csY1" fmla="*/ 2329 h 12361"/>
                <a:gd name="csX2" fmla="*/ 9870 w 10133"/>
                <a:gd name="csY2" fmla="*/ 12361 h 12361"/>
                <a:gd name="csX3" fmla="*/ 142 w 10133"/>
                <a:gd name="csY3" fmla="*/ 9253 h 12361"/>
                <a:gd name="csX4" fmla="*/ 0 w 10133"/>
                <a:gd name="csY4" fmla="*/ 0 h 12361"/>
                <a:gd name="csX0" fmla="*/ 0 w 9904"/>
                <a:gd name="csY0" fmla="*/ 0 h 12361"/>
                <a:gd name="csX1" fmla="*/ 9283 w 9904"/>
                <a:gd name="csY1" fmla="*/ 4007 h 12361"/>
                <a:gd name="csX2" fmla="*/ 9870 w 9904"/>
                <a:gd name="csY2" fmla="*/ 12361 h 12361"/>
                <a:gd name="csX3" fmla="*/ 142 w 9904"/>
                <a:gd name="csY3" fmla="*/ 9253 h 12361"/>
                <a:gd name="csX4" fmla="*/ 0 w 9904"/>
                <a:gd name="csY4" fmla="*/ 0 h 12361"/>
                <a:gd name="csX0" fmla="*/ 0 w 10231"/>
                <a:gd name="csY0" fmla="*/ 0 h 10000"/>
                <a:gd name="csX1" fmla="*/ 10231 w 10231"/>
                <a:gd name="csY1" fmla="*/ 2603 h 10000"/>
                <a:gd name="csX2" fmla="*/ 9966 w 10231"/>
                <a:gd name="csY2" fmla="*/ 10000 h 10000"/>
                <a:gd name="csX3" fmla="*/ 143 w 10231"/>
                <a:gd name="csY3" fmla="*/ 7486 h 10000"/>
                <a:gd name="csX4" fmla="*/ 0 w 10231"/>
                <a:gd name="csY4" fmla="*/ 0 h 10000"/>
                <a:gd name="csX0" fmla="*/ 0 w 10108"/>
                <a:gd name="csY0" fmla="*/ 0 h 10000"/>
                <a:gd name="csX1" fmla="*/ 10108 w 10108"/>
                <a:gd name="csY1" fmla="*/ 2443 h 10000"/>
                <a:gd name="csX2" fmla="*/ 9966 w 10108"/>
                <a:gd name="csY2" fmla="*/ 10000 h 10000"/>
                <a:gd name="csX3" fmla="*/ 143 w 10108"/>
                <a:gd name="csY3" fmla="*/ 7486 h 10000"/>
                <a:gd name="csX4" fmla="*/ 0 w 10108"/>
                <a:gd name="csY4" fmla="*/ 0 h 10000"/>
                <a:gd name="csX0" fmla="*/ 0 w 10269"/>
                <a:gd name="csY0" fmla="*/ 0 h 10000"/>
                <a:gd name="csX1" fmla="*/ 10108 w 10269"/>
                <a:gd name="csY1" fmla="*/ 2443 h 10000"/>
                <a:gd name="csX2" fmla="*/ 10211 w 10269"/>
                <a:gd name="csY2" fmla="*/ 10000 h 10000"/>
                <a:gd name="csX3" fmla="*/ 143 w 10269"/>
                <a:gd name="csY3" fmla="*/ 7486 h 10000"/>
                <a:gd name="csX4" fmla="*/ 0 w 10269"/>
                <a:gd name="csY4" fmla="*/ 0 h 10000"/>
                <a:gd name="csX0" fmla="*/ 0 w 10353"/>
                <a:gd name="csY0" fmla="*/ 0 h 10000"/>
                <a:gd name="csX1" fmla="*/ 10353 w 10353"/>
                <a:gd name="csY1" fmla="*/ 2523 h 10000"/>
                <a:gd name="csX2" fmla="*/ 10211 w 10353"/>
                <a:gd name="csY2" fmla="*/ 10000 h 10000"/>
                <a:gd name="csX3" fmla="*/ 143 w 10353"/>
                <a:gd name="csY3" fmla="*/ 7486 h 10000"/>
                <a:gd name="csX4" fmla="*/ 0 w 10353"/>
                <a:gd name="csY4" fmla="*/ 0 h 10000"/>
                <a:gd name="csX0" fmla="*/ 480 w 10220"/>
                <a:gd name="csY0" fmla="*/ 0 h 10240"/>
                <a:gd name="csX1" fmla="*/ 10220 w 10220"/>
                <a:gd name="csY1" fmla="*/ 2763 h 10240"/>
                <a:gd name="csX2" fmla="*/ 10078 w 10220"/>
                <a:gd name="csY2" fmla="*/ 10240 h 10240"/>
                <a:gd name="csX3" fmla="*/ 10 w 10220"/>
                <a:gd name="csY3" fmla="*/ 7726 h 10240"/>
                <a:gd name="csX4" fmla="*/ 480 w 10220"/>
                <a:gd name="csY4" fmla="*/ 0 h 10240"/>
                <a:gd name="csX0" fmla="*/ 0 w 9740"/>
                <a:gd name="csY0" fmla="*/ 0 h 10240"/>
                <a:gd name="csX1" fmla="*/ 9740 w 9740"/>
                <a:gd name="csY1" fmla="*/ 2763 h 10240"/>
                <a:gd name="csX2" fmla="*/ 9598 w 9740"/>
                <a:gd name="csY2" fmla="*/ 10240 h 10240"/>
                <a:gd name="csX3" fmla="*/ 143 w 9740"/>
                <a:gd name="csY3" fmla="*/ 7486 h 10240"/>
                <a:gd name="csX4" fmla="*/ 0 w 9740"/>
                <a:gd name="csY4" fmla="*/ 0 h 10240"/>
                <a:gd name="csX0" fmla="*/ 0 w 10000"/>
                <a:gd name="csY0" fmla="*/ 0 h 9844"/>
                <a:gd name="csX1" fmla="*/ 10000 w 10000"/>
                <a:gd name="csY1" fmla="*/ 2542 h 9844"/>
                <a:gd name="csX2" fmla="*/ 9854 w 10000"/>
                <a:gd name="csY2" fmla="*/ 9844 h 9844"/>
                <a:gd name="csX3" fmla="*/ 147 w 10000"/>
                <a:gd name="csY3" fmla="*/ 7155 h 9844"/>
                <a:gd name="csX4" fmla="*/ 0 w 10000"/>
                <a:gd name="csY4" fmla="*/ 0 h 9844"/>
                <a:gd name="csX0" fmla="*/ 11 w 9885"/>
                <a:gd name="csY0" fmla="*/ 0 h 10000"/>
                <a:gd name="csX1" fmla="*/ 9885 w 9885"/>
                <a:gd name="csY1" fmla="*/ 2582 h 10000"/>
                <a:gd name="csX2" fmla="*/ 9739 w 9885"/>
                <a:gd name="csY2" fmla="*/ 10000 h 10000"/>
                <a:gd name="csX3" fmla="*/ 32 w 9885"/>
                <a:gd name="csY3" fmla="*/ 7268 h 10000"/>
                <a:gd name="csX4" fmla="*/ 11 w 9885"/>
                <a:gd name="csY4" fmla="*/ 0 h 10000"/>
                <a:gd name="csX0" fmla="*/ 127 w 9989"/>
                <a:gd name="csY0" fmla="*/ 0 h 10079"/>
                <a:gd name="csX1" fmla="*/ 9989 w 9989"/>
                <a:gd name="csY1" fmla="*/ 2661 h 10079"/>
                <a:gd name="csX2" fmla="*/ 9841 w 9989"/>
                <a:gd name="csY2" fmla="*/ 10079 h 10079"/>
                <a:gd name="csX3" fmla="*/ 21 w 9989"/>
                <a:gd name="csY3" fmla="*/ 7347 h 10079"/>
                <a:gd name="csX4" fmla="*/ 127 w 9989"/>
                <a:gd name="csY4" fmla="*/ 0 h 10079"/>
                <a:gd name="csX0" fmla="*/ 0 w 9873"/>
                <a:gd name="csY0" fmla="*/ 0 h 10000"/>
                <a:gd name="csX1" fmla="*/ 9873 w 9873"/>
                <a:gd name="csY1" fmla="*/ 2640 h 10000"/>
                <a:gd name="csX2" fmla="*/ 9725 w 9873"/>
                <a:gd name="csY2" fmla="*/ 10000 h 10000"/>
                <a:gd name="csX3" fmla="*/ 63 w 9873"/>
                <a:gd name="csY3" fmla="*/ 7428 h 10000"/>
                <a:gd name="csX4" fmla="*/ 0 w 9873"/>
                <a:gd name="csY4" fmla="*/ 0 h 10000"/>
                <a:gd name="csX0" fmla="*/ 0 w 10000"/>
                <a:gd name="csY0" fmla="*/ 0 h 10000"/>
                <a:gd name="csX1" fmla="*/ 10000 w 10000"/>
                <a:gd name="csY1" fmla="*/ 2710 h 10000"/>
                <a:gd name="csX2" fmla="*/ 9850 w 10000"/>
                <a:gd name="csY2" fmla="*/ 10000 h 10000"/>
                <a:gd name="csX3" fmla="*/ 64 w 10000"/>
                <a:gd name="csY3" fmla="*/ 7428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2710 h 10000"/>
                <a:gd name="csX2" fmla="*/ 9850 w 10000"/>
                <a:gd name="csY2" fmla="*/ 10000 h 10000"/>
                <a:gd name="csX3" fmla="*/ 64 w 10000"/>
                <a:gd name="csY3" fmla="*/ 7428 h 10000"/>
                <a:gd name="csX4" fmla="*/ 0 w 10000"/>
                <a:gd name="csY4" fmla="*/ 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2710"/>
                  </a:lnTo>
                  <a:cubicBezTo>
                    <a:pt x="9922" y="5018"/>
                    <a:pt x="10100" y="7693"/>
                    <a:pt x="9850" y="10000"/>
                  </a:cubicBezTo>
                  <a:lnTo>
                    <a:pt x="64" y="7428"/>
                  </a:lnTo>
                  <a:cubicBezTo>
                    <a:pt x="-37" y="4974"/>
                    <a:pt x="101" y="245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lowchart: Process 78">
              <a:extLst>
                <a:ext uri="{FF2B5EF4-FFF2-40B4-BE49-F238E27FC236}">
                  <a16:creationId xmlns:a16="http://schemas.microsoft.com/office/drawing/2014/main" id="{25DAEE67-4183-E343-ED16-89C5B18B08C0}"/>
                </a:ext>
              </a:extLst>
            </p:cNvPr>
            <p:cNvSpPr>
              <a:spLocks/>
            </p:cNvSpPr>
            <p:nvPr/>
          </p:nvSpPr>
          <p:spPr>
            <a:xfrm flipH="1">
              <a:off x="5561694" y="2386353"/>
              <a:ext cx="367738" cy="682834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257 w 10000"/>
                <a:gd name="csY3" fmla="*/ 6980 h 10000"/>
                <a:gd name="csX4" fmla="*/ 0 w 10000"/>
                <a:gd name="csY4" fmla="*/ 0 h 10000"/>
                <a:gd name="csX0" fmla="*/ 0 w 10000"/>
                <a:gd name="csY0" fmla="*/ 0 h 9087"/>
                <a:gd name="csX1" fmla="*/ 10000 w 10000"/>
                <a:gd name="csY1" fmla="*/ 0 h 9087"/>
                <a:gd name="csX2" fmla="*/ 10000 w 10000"/>
                <a:gd name="csY2" fmla="*/ 9087 h 9087"/>
                <a:gd name="csX3" fmla="*/ 257 w 10000"/>
                <a:gd name="csY3" fmla="*/ 6980 h 9087"/>
                <a:gd name="csX4" fmla="*/ 0 w 10000"/>
                <a:gd name="csY4" fmla="*/ 0 h 9087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257 w 10000"/>
                <a:gd name="csY3" fmla="*/ 7681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642 w 10000"/>
                <a:gd name="csY3" fmla="*/ 6985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6662 w 10000"/>
                <a:gd name="csY1" fmla="*/ 4174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0 w 10000"/>
                <a:gd name="csY0" fmla="*/ 0 h 10232"/>
                <a:gd name="csX1" fmla="*/ 10000 w 10000"/>
                <a:gd name="csY1" fmla="*/ 2010 h 10232"/>
                <a:gd name="csX2" fmla="*/ 10000 w 10000"/>
                <a:gd name="csY2" fmla="*/ 10232 h 10232"/>
                <a:gd name="csX3" fmla="*/ 514 w 10000"/>
                <a:gd name="csY3" fmla="*/ 7913 h 10232"/>
                <a:gd name="csX4" fmla="*/ 0 w 10000"/>
                <a:gd name="csY4" fmla="*/ 0 h 10232"/>
                <a:gd name="csX0" fmla="*/ 395 w 9496"/>
                <a:gd name="csY0" fmla="*/ 0 h 10387"/>
                <a:gd name="csX1" fmla="*/ 9496 w 9496"/>
                <a:gd name="csY1" fmla="*/ 2165 h 10387"/>
                <a:gd name="csX2" fmla="*/ 9496 w 9496"/>
                <a:gd name="csY2" fmla="*/ 10387 h 10387"/>
                <a:gd name="csX3" fmla="*/ 10 w 9496"/>
                <a:gd name="csY3" fmla="*/ 8068 h 10387"/>
                <a:gd name="csX4" fmla="*/ 395 w 9496"/>
                <a:gd name="csY4" fmla="*/ 0 h 10387"/>
                <a:gd name="csX0" fmla="*/ 0 w 10260"/>
                <a:gd name="csY0" fmla="*/ 0 h 9926"/>
                <a:gd name="csX1" fmla="*/ 10260 w 10260"/>
                <a:gd name="csY1" fmla="*/ 2010 h 9926"/>
                <a:gd name="csX2" fmla="*/ 10260 w 10260"/>
                <a:gd name="csY2" fmla="*/ 9926 h 9926"/>
                <a:gd name="csX3" fmla="*/ 271 w 10260"/>
                <a:gd name="csY3" fmla="*/ 7693 h 9926"/>
                <a:gd name="csX4" fmla="*/ 0 w 10260"/>
                <a:gd name="csY4" fmla="*/ 0 h 9926"/>
                <a:gd name="csX0" fmla="*/ 0 w 10000"/>
                <a:gd name="csY0" fmla="*/ 0 h 10000"/>
                <a:gd name="csX1" fmla="*/ 9868 w 10000"/>
                <a:gd name="csY1" fmla="*/ 2400 h 10000"/>
                <a:gd name="csX2" fmla="*/ 10000 w 10000"/>
                <a:gd name="csY2" fmla="*/ 10000 h 10000"/>
                <a:gd name="csX3" fmla="*/ 264 w 10000"/>
                <a:gd name="csY3" fmla="*/ 7750 h 10000"/>
                <a:gd name="csX4" fmla="*/ 0 w 10000"/>
                <a:gd name="csY4" fmla="*/ 0 h 10000"/>
                <a:gd name="csX0" fmla="*/ 275 w 9748"/>
                <a:gd name="csY0" fmla="*/ 0 h 9175"/>
                <a:gd name="csX1" fmla="*/ 9616 w 9748"/>
                <a:gd name="csY1" fmla="*/ 1575 h 9175"/>
                <a:gd name="csX2" fmla="*/ 9748 w 9748"/>
                <a:gd name="csY2" fmla="*/ 9175 h 9175"/>
                <a:gd name="csX3" fmla="*/ 12 w 9748"/>
                <a:gd name="csY3" fmla="*/ 6925 h 9175"/>
                <a:gd name="csX4" fmla="*/ 275 w 9748"/>
                <a:gd name="csY4" fmla="*/ 0 h 9175"/>
                <a:gd name="csX0" fmla="*/ 282 w 10000"/>
                <a:gd name="csY0" fmla="*/ 0 h 10000"/>
                <a:gd name="csX1" fmla="*/ 8108 w 10000"/>
                <a:gd name="csY1" fmla="*/ 2452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282 w 10000"/>
                <a:gd name="csY0" fmla="*/ 0 h 10000"/>
                <a:gd name="csX1" fmla="*/ 9595 w 10000"/>
                <a:gd name="csY1" fmla="*/ 1471 h 10000"/>
                <a:gd name="csX2" fmla="*/ 10000 w 10000"/>
                <a:gd name="csY2" fmla="*/ 10000 h 10000"/>
                <a:gd name="csX3" fmla="*/ 12 w 10000"/>
                <a:gd name="csY3" fmla="*/ 7548 h 10000"/>
                <a:gd name="csX4" fmla="*/ 282 w 10000"/>
                <a:gd name="csY4" fmla="*/ 0 h 10000"/>
                <a:gd name="csX0" fmla="*/ 0 w 10124"/>
                <a:gd name="csY0" fmla="*/ 0 h 10572"/>
                <a:gd name="csX1" fmla="*/ 9719 w 10124"/>
                <a:gd name="csY1" fmla="*/ 2043 h 10572"/>
                <a:gd name="csX2" fmla="*/ 10124 w 10124"/>
                <a:gd name="csY2" fmla="*/ 10572 h 10572"/>
                <a:gd name="csX3" fmla="*/ 136 w 10124"/>
                <a:gd name="csY3" fmla="*/ 8120 h 10572"/>
                <a:gd name="csX4" fmla="*/ 0 w 10124"/>
                <a:gd name="csY4" fmla="*/ 0 h 10572"/>
                <a:gd name="csX0" fmla="*/ 0 w 10124"/>
                <a:gd name="csY0" fmla="*/ 0 h 10817"/>
                <a:gd name="csX1" fmla="*/ 9719 w 10124"/>
                <a:gd name="csY1" fmla="*/ 2288 h 10817"/>
                <a:gd name="csX2" fmla="*/ 10124 w 10124"/>
                <a:gd name="csY2" fmla="*/ 10817 h 10817"/>
                <a:gd name="csX3" fmla="*/ 136 w 10124"/>
                <a:gd name="csY3" fmla="*/ 8365 h 10817"/>
                <a:gd name="csX4" fmla="*/ 0 w 10124"/>
                <a:gd name="csY4" fmla="*/ 0 h 10817"/>
                <a:gd name="csX0" fmla="*/ 0 w 9719"/>
                <a:gd name="csY0" fmla="*/ 0 h 9918"/>
                <a:gd name="csX1" fmla="*/ 9719 w 9719"/>
                <a:gd name="csY1" fmla="*/ 2288 h 9918"/>
                <a:gd name="csX2" fmla="*/ 9043 w 9719"/>
                <a:gd name="csY2" fmla="*/ 9918 h 9918"/>
                <a:gd name="csX3" fmla="*/ 136 w 9719"/>
                <a:gd name="csY3" fmla="*/ 8365 h 9918"/>
                <a:gd name="csX4" fmla="*/ 0 w 9719"/>
                <a:gd name="csY4" fmla="*/ 0 h 9918"/>
                <a:gd name="csX0" fmla="*/ 0 w 10000"/>
                <a:gd name="csY0" fmla="*/ 0 h 10659"/>
                <a:gd name="csX1" fmla="*/ 10000 w 10000"/>
                <a:gd name="csY1" fmla="*/ 2307 h 10659"/>
                <a:gd name="csX2" fmla="*/ 9860 w 10000"/>
                <a:gd name="csY2" fmla="*/ 10659 h 10659"/>
                <a:gd name="csX3" fmla="*/ 140 w 10000"/>
                <a:gd name="csY3" fmla="*/ 8434 h 10659"/>
                <a:gd name="csX4" fmla="*/ 0 w 10000"/>
                <a:gd name="csY4" fmla="*/ 0 h 10659"/>
                <a:gd name="csX0" fmla="*/ 290 w 9873"/>
                <a:gd name="csY0" fmla="*/ 0 h 10577"/>
                <a:gd name="csX1" fmla="*/ 9873 w 9873"/>
                <a:gd name="csY1" fmla="*/ 2225 h 10577"/>
                <a:gd name="csX2" fmla="*/ 9733 w 9873"/>
                <a:gd name="csY2" fmla="*/ 10577 h 10577"/>
                <a:gd name="csX3" fmla="*/ 13 w 9873"/>
                <a:gd name="csY3" fmla="*/ 8352 h 10577"/>
                <a:gd name="csX4" fmla="*/ 290 w 9873"/>
                <a:gd name="csY4" fmla="*/ 0 h 10577"/>
                <a:gd name="csX0" fmla="*/ 26 w 10014"/>
                <a:gd name="csY0" fmla="*/ 0 h 10156"/>
                <a:gd name="csX1" fmla="*/ 10014 w 10014"/>
                <a:gd name="csY1" fmla="*/ 2260 h 10156"/>
                <a:gd name="csX2" fmla="*/ 9872 w 10014"/>
                <a:gd name="csY2" fmla="*/ 10156 h 10156"/>
                <a:gd name="csX3" fmla="*/ 27 w 10014"/>
                <a:gd name="csY3" fmla="*/ 8052 h 10156"/>
                <a:gd name="csX4" fmla="*/ 26 w 10014"/>
                <a:gd name="csY4" fmla="*/ 0 h 10156"/>
                <a:gd name="csX0" fmla="*/ 0 w 10129"/>
                <a:gd name="csY0" fmla="*/ 0 h 10000"/>
                <a:gd name="csX1" fmla="*/ 10129 w 10129"/>
                <a:gd name="csY1" fmla="*/ 2104 h 10000"/>
                <a:gd name="csX2" fmla="*/ 9987 w 10129"/>
                <a:gd name="csY2" fmla="*/ 10000 h 10000"/>
                <a:gd name="csX3" fmla="*/ 142 w 10129"/>
                <a:gd name="csY3" fmla="*/ 7896 h 10000"/>
                <a:gd name="csX4" fmla="*/ 0 w 10129"/>
                <a:gd name="csY4" fmla="*/ 0 h 10000"/>
                <a:gd name="csX0" fmla="*/ 158 w 10005"/>
                <a:gd name="csY0" fmla="*/ 0 h 10078"/>
                <a:gd name="csX1" fmla="*/ 10005 w 10005"/>
                <a:gd name="csY1" fmla="*/ 2182 h 10078"/>
                <a:gd name="csX2" fmla="*/ 9863 w 10005"/>
                <a:gd name="csY2" fmla="*/ 10078 h 10078"/>
                <a:gd name="csX3" fmla="*/ 18 w 10005"/>
                <a:gd name="csY3" fmla="*/ 7974 h 10078"/>
                <a:gd name="csX4" fmla="*/ 158 w 10005"/>
                <a:gd name="csY4" fmla="*/ 0 h 10078"/>
                <a:gd name="csX0" fmla="*/ 572 w 9996"/>
                <a:gd name="csY0" fmla="*/ 0 h 8364"/>
                <a:gd name="csX1" fmla="*/ 9996 w 9996"/>
                <a:gd name="csY1" fmla="*/ 468 h 8364"/>
                <a:gd name="csX2" fmla="*/ 9854 w 9996"/>
                <a:gd name="csY2" fmla="*/ 8364 h 8364"/>
                <a:gd name="csX3" fmla="*/ 9 w 9996"/>
                <a:gd name="csY3" fmla="*/ 6260 h 8364"/>
                <a:gd name="csX4" fmla="*/ 572 w 9996"/>
                <a:gd name="csY4" fmla="*/ 0 h 8364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142 w 10133"/>
                <a:gd name="csY3" fmla="*/ 9253 h 11769"/>
                <a:gd name="csX4" fmla="*/ 0 w 10133"/>
                <a:gd name="csY4" fmla="*/ 0 h 11769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1307 w 10133"/>
                <a:gd name="csY3" fmla="*/ 8538 h 11769"/>
                <a:gd name="csX4" fmla="*/ 0 w 10133"/>
                <a:gd name="csY4" fmla="*/ 0 h 11769"/>
                <a:gd name="csX0" fmla="*/ 0 w 10133"/>
                <a:gd name="csY0" fmla="*/ 0 h 11769"/>
                <a:gd name="csX1" fmla="*/ 10133 w 10133"/>
                <a:gd name="csY1" fmla="*/ 2329 h 11769"/>
                <a:gd name="csX2" fmla="*/ 9991 w 10133"/>
                <a:gd name="csY2" fmla="*/ 11769 h 11769"/>
                <a:gd name="csX3" fmla="*/ 808 w 10133"/>
                <a:gd name="csY3" fmla="*/ 9033 h 11769"/>
                <a:gd name="csX4" fmla="*/ 0 w 10133"/>
                <a:gd name="csY4" fmla="*/ 0 h 11769"/>
                <a:gd name="csX0" fmla="*/ 0 w 10017"/>
                <a:gd name="csY0" fmla="*/ 0 h 11769"/>
                <a:gd name="csX1" fmla="*/ 9052 w 10017"/>
                <a:gd name="csY1" fmla="*/ 3154 h 11769"/>
                <a:gd name="csX2" fmla="*/ 9991 w 10017"/>
                <a:gd name="csY2" fmla="*/ 11769 h 11769"/>
                <a:gd name="csX3" fmla="*/ 808 w 10017"/>
                <a:gd name="csY3" fmla="*/ 9033 h 11769"/>
                <a:gd name="csX4" fmla="*/ 0 w 10017"/>
                <a:gd name="csY4" fmla="*/ 0 h 11769"/>
                <a:gd name="csX0" fmla="*/ 0 w 10066"/>
                <a:gd name="csY0" fmla="*/ 0 h 11769"/>
                <a:gd name="csX1" fmla="*/ 10050 w 10066"/>
                <a:gd name="csY1" fmla="*/ 2714 h 11769"/>
                <a:gd name="csX2" fmla="*/ 9991 w 10066"/>
                <a:gd name="csY2" fmla="*/ 11769 h 11769"/>
                <a:gd name="csX3" fmla="*/ 808 w 10066"/>
                <a:gd name="csY3" fmla="*/ 9033 h 11769"/>
                <a:gd name="csX4" fmla="*/ 0 w 10066"/>
                <a:gd name="csY4" fmla="*/ 0 h 11769"/>
                <a:gd name="csX0" fmla="*/ 697 w 9266"/>
                <a:gd name="csY0" fmla="*/ 0 h 10944"/>
                <a:gd name="csX1" fmla="*/ 9250 w 9266"/>
                <a:gd name="csY1" fmla="*/ 1889 h 10944"/>
                <a:gd name="csX2" fmla="*/ 9191 w 9266"/>
                <a:gd name="csY2" fmla="*/ 10944 h 10944"/>
                <a:gd name="csX3" fmla="*/ 8 w 9266"/>
                <a:gd name="csY3" fmla="*/ 8208 h 10944"/>
                <a:gd name="csX4" fmla="*/ 697 w 9266"/>
                <a:gd name="csY4" fmla="*/ 0 h 10944"/>
                <a:gd name="csX0" fmla="*/ 0 w 10325"/>
                <a:gd name="csY0" fmla="*/ 0 h 10402"/>
                <a:gd name="csX1" fmla="*/ 10308 w 10325"/>
                <a:gd name="csY1" fmla="*/ 2128 h 10402"/>
                <a:gd name="csX2" fmla="*/ 10244 w 10325"/>
                <a:gd name="csY2" fmla="*/ 10402 h 10402"/>
                <a:gd name="csX3" fmla="*/ 334 w 10325"/>
                <a:gd name="csY3" fmla="*/ 7902 h 10402"/>
                <a:gd name="csX4" fmla="*/ 0 w 10325"/>
                <a:gd name="csY4" fmla="*/ 0 h 10402"/>
                <a:gd name="csX0" fmla="*/ 0 w 10398"/>
                <a:gd name="csY0" fmla="*/ 0 h 10402"/>
                <a:gd name="csX1" fmla="*/ 10398 w 10398"/>
                <a:gd name="csY1" fmla="*/ 2078 h 10402"/>
                <a:gd name="csX2" fmla="*/ 10244 w 10398"/>
                <a:gd name="csY2" fmla="*/ 10402 h 10402"/>
                <a:gd name="csX3" fmla="*/ 334 w 10398"/>
                <a:gd name="csY3" fmla="*/ 7902 h 10402"/>
                <a:gd name="csX4" fmla="*/ 0 w 10398"/>
                <a:gd name="csY4" fmla="*/ 0 h 10402"/>
                <a:gd name="csX0" fmla="*/ 136 w 10085"/>
                <a:gd name="csY0" fmla="*/ 0 h 10653"/>
                <a:gd name="csX1" fmla="*/ 10085 w 10085"/>
                <a:gd name="csY1" fmla="*/ 2329 h 10653"/>
                <a:gd name="csX2" fmla="*/ 9931 w 10085"/>
                <a:gd name="csY2" fmla="*/ 10653 h 10653"/>
                <a:gd name="csX3" fmla="*/ 21 w 10085"/>
                <a:gd name="csY3" fmla="*/ 8153 h 10653"/>
                <a:gd name="csX4" fmla="*/ 136 w 10085"/>
                <a:gd name="csY4" fmla="*/ 0 h 10653"/>
                <a:gd name="csX0" fmla="*/ 0 w 10308"/>
                <a:gd name="csY0" fmla="*/ 0 h 10753"/>
                <a:gd name="csX1" fmla="*/ 10308 w 10308"/>
                <a:gd name="csY1" fmla="*/ 2429 h 10753"/>
                <a:gd name="csX2" fmla="*/ 10154 w 10308"/>
                <a:gd name="csY2" fmla="*/ 10753 h 10753"/>
                <a:gd name="csX3" fmla="*/ 244 w 10308"/>
                <a:gd name="csY3" fmla="*/ 8253 h 10753"/>
                <a:gd name="csX4" fmla="*/ 0 w 10308"/>
                <a:gd name="csY4" fmla="*/ 0 h 10753"/>
                <a:gd name="csX0" fmla="*/ 0 w 10398"/>
                <a:gd name="csY0" fmla="*/ 0 h 10803"/>
                <a:gd name="csX1" fmla="*/ 10398 w 10398"/>
                <a:gd name="csY1" fmla="*/ 2479 h 10803"/>
                <a:gd name="csX2" fmla="*/ 10244 w 10398"/>
                <a:gd name="csY2" fmla="*/ 10803 h 10803"/>
                <a:gd name="csX3" fmla="*/ 334 w 10398"/>
                <a:gd name="csY3" fmla="*/ 8303 h 10803"/>
                <a:gd name="csX4" fmla="*/ 0 w 10398"/>
                <a:gd name="csY4" fmla="*/ 0 h 10803"/>
                <a:gd name="csX0" fmla="*/ 0 w 10398"/>
                <a:gd name="csY0" fmla="*/ 0 h 10803"/>
                <a:gd name="csX1" fmla="*/ 10398 w 10398"/>
                <a:gd name="csY1" fmla="*/ 2479 h 10803"/>
                <a:gd name="csX2" fmla="*/ 10244 w 10398"/>
                <a:gd name="csY2" fmla="*/ 10803 h 10803"/>
                <a:gd name="csX3" fmla="*/ 65 w 10398"/>
                <a:gd name="csY3" fmla="*/ 8403 h 10803"/>
                <a:gd name="csX4" fmla="*/ 0 w 10398"/>
                <a:gd name="csY4" fmla="*/ 0 h 10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398" h="10803">
                  <a:moveTo>
                    <a:pt x="0" y="0"/>
                  </a:moveTo>
                  <a:lnTo>
                    <a:pt x="10398" y="2479"/>
                  </a:lnTo>
                  <a:cubicBezTo>
                    <a:pt x="10144" y="5127"/>
                    <a:pt x="10498" y="8155"/>
                    <a:pt x="10244" y="10803"/>
                  </a:cubicBezTo>
                  <a:lnTo>
                    <a:pt x="65" y="8403"/>
                  </a:lnTo>
                  <a:cubicBezTo>
                    <a:pt x="-38" y="5587"/>
                    <a:pt x="103" y="2819"/>
                    <a:pt x="0" y="0"/>
                  </a:cubicBez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Process 80">
              <a:extLst>
                <a:ext uri="{FF2B5EF4-FFF2-40B4-BE49-F238E27FC236}">
                  <a16:creationId xmlns:a16="http://schemas.microsoft.com/office/drawing/2014/main" id="{36629F36-83C4-470C-8DE2-8B1499BAA44F}"/>
                </a:ext>
              </a:extLst>
            </p:cNvPr>
            <p:cNvSpPr>
              <a:spLocks/>
            </p:cNvSpPr>
            <p:nvPr/>
          </p:nvSpPr>
          <p:spPr>
            <a:xfrm flipH="1">
              <a:off x="5159685" y="2222691"/>
              <a:ext cx="772855" cy="327188"/>
            </a:xfrm>
            <a:custGeom>
              <a:avLst/>
              <a:gdLst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0 h 10000"/>
                <a:gd name="csX0" fmla="*/ 0 w 10000"/>
                <a:gd name="csY0" fmla="*/ 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4790 w 10000"/>
                <a:gd name="csY3" fmla="*/ 10000 h 10000"/>
                <a:gd name="csX4" fmla="*/ 0 w 10000"/>
                <a:gd name="csY4" fmla="*/ 0 h 10000"/>
                <a:gd name="csX0" fmla="*/ 0 w 9863"/>
                <a:gd name="csY0" fmla="*/ 4857 h 10000"/>
                <a:gd name="csX1" fmla="*/ 9863 w 9863"/>
                <a:gd name="csY1" fmla="*/ 0 h 10000"/>
                <a:gd name="csX2" fmla="*/ 9863 w 9863"/>
                <a:gd name="csY2" fmla="*/ 10000 h 10000"/>
                <a:gd name="csX3" fmla="*/ 4653 w 9863"/>
                <a:gd name="csY3" fmla="*/ 10000 h 10000"/>
                <a:gd name="csX4" fmla="*/ 0 w 9863"/>
                <a:gd name="csY4" fmla="*/ 4857 h 10000"/>
                <a:gd name="csX0" fmla="*/ 0 w 10000"/>
                <a:gd name="csY0" fmla="*/ 5014 h 10157"/>
                <a:gd name="csX1" fmla="*/ 5768 w 10000"/>
                <a:gd name="csY1" fmla="*/ 0 h 10157"/>
                <a:gd name="csX2" fmla="*/ 10000 w 10000"/>
                <a:gd name="csY2" fmla="*/ 10157 h 10157"/>
                <a:gd name="csX3" fmla="*/ 4718 w 10000"/>
                <a:gd name="csY3" fmla="*/ 10157 h 10157"/>
                <a:gd name="csX4" fmla="*/ 0 w 10000"/>
                <a:gd name="csY4" fmla="*/ 5014 h 10157"/>
                <a:gd name="csX0" fmla="*/ 0 w 10139"/>
                <a:gd name="csY0" fmla="*/ 5014 h 10157"/>
                <a:gd name="csX1" fmla="*/ 5768 w 10139"/>
                <a:gd name="csY1" fmla="*/ 0 h 10157"/>
                <a:gd name="csX2" fmla="*/ 10139 w 10139"/>
                <a:gd name="csY2" fmla="*/ 4673 h 10157"/>
                <a:gd name="csX3" fmla="*/ 4718 w 10139"/>
                <a:gd name="csY3" fmla="*/ 10157 h 10157"/>
                <a:gd name="csX4" fmla="*/ 0 w 10139"/>
                <a:gd name="csY4" fmla="*/ 5014 h 10157"/>
                <a:gd name="csX0" fmla="*/ 0 w 10208"/>
                <a:gd name="csY0" fmla="*/ 5327 h 10157"/>
                <a:gd name="csX1" fmla="*/ 5837 w 10208"/>
                <a:gd name="csY1" fmla="*/ 0 h 10157"/>
                <a:gd name="csX2" fmla="*/ 10208 w 10208"/>
                <a:gd name="csY2" fmla="*/ 4673 h 10157"/>
                <a:gd name="csX3" fmla="*/ 4787 w 10208"/>
                <a:gd name="csY3" fmla="*/ 10157 h 10157"/>
                <a:gd name="csX4" fmla="*/ 0 w 10208"/>
                <a:gd name="csY4" fmla="*/ 5327 h 10157"/>
                <a:gd name="csX0" fmla="*/ 0 w 10277"/>
                <a:gd name="csY0" fmla="*/ 5014 h 10157"/>
                <a:gd name="csX1" fmla="*/ 5906 w 10277"/>
                <a:gd name="csY1" fmla="*/ 0 h 10157"/>
                <a:gd name="csX2" fmla="*/ 10277 w 10277"/>
                <a:gd name="csY2" fmla="*/ 4673 h 10157"/>
                <a:gd name="csX3" fmla="*/ 4856 w 10277"/>
                <a:gd name="csY3" fmla="*/ 10157 h 10157"/>
                <a:gd name="csX4" fmla="*/ 0 w 10277"/>
                <a:gd name="csY4" fmla="*/ 5014 h 10157"/>
                <a:gd name="csX0" fmla="*/ 0 w 10277"/>
                <a:gd name="csY0" fmla="*/ 4074 h 9217"/>
                <a:gd name="csX1" fmla="*/ 5837 w 10277"/>
                <a:gd name="csY1" fmla="*/ 0 h 9217"/>
                <a:gd name="csX2" fmla="*/ 10277 w 10277"/>
                <a:gd name="csY2" fmla="*/ 3733 h 9217"/>
                <a:gd name="csX3" fmla="*/ 4856 w 10277"/>
                <a:gd name="csY3" fmla="*/ 9217 h 9217"/>
                <a:gd name="csX4" fmla="*/ 0 w 10277"/>
                <a:gd name="csY4" fmla="*/ 4074 h 9217"/>
                <a:gd name="csX0" fmla="*/ 0 w 10000"/>
                <a:gd name="csY0" fmla="*/ 4760 h 10340"/>
                <a:gd name="csX1" fmla="*/ 5680 w 10000"/>
                <a:gd name="csY1" fmla="*/ 0 h 10340"/>
                <a:gd name="csX2" fmla="*/ 10000 w 10000"/>
                <a:gd name="csY2" fmla="*/ 4390 h 10340"/>
                <a:gd name="csX3" fmla="*/ 4725 w 10000"/>
                <a:gd name="csY3" fmla="*/ 10340 h 10340"/>
                <a:gd name="csX4" fmla="*/ 0 w 10000"/>
                <a:gd name="csY4" fmla="*/ 4760 h 10340"/>
                <a:gd name="csX0" fmla="*/ 0 w 10000"/>
                <a:gd name="csY0" fmla="*/ 5440 h 10340"/>
                <a:gd name="csX1" fmla="*/ 5680 w 10000"/>
                <a:gd name="csY1" fmla="*/ 0 h 10340"/>
                <a:gd name="csX2" fmla="*/ 10000 w 10000"/>
                <a:gd name="csY2" fmla="*/ 4390 h 10340"/>
                <a:gd name="csX3" fmla="*/ 4725 w 10000"/>
                <a:gd name="csY3" fmla="*/ 10340 h 10340"/>
                <a:gd name="csX4" fmla="*/ 0 w 10000"/>
                <a:gd name="csY4" fmla="*/ 5440 h 10340"/>
                <a:gd name="csX0" fmla="*/ 0 w 10000"/>
                <a:gd name="csY0" fmla="*/ 5440 h 8434"/>
                <a:gd name="csX1" fmla="*/ 5680 w 10000"/>
                <a:gd name="csY1" fmla="*/ 0 h 8434"/>
                <a:gd name="csX2" fmla="*/ 10000 w 10000"/>
                <a:gd name="csY2" fmla="*/ 4390 h 8434"/>
                <a:gd name="csX3" fmla="*/ 4884 w 10000"/>
                <a:gd name="csY3" fmla="*/ 8434 h 8434"/>
                <a:gd name="csX4" fmla="*/ 0 w 10000"/>
                <a:gd name="csY4" fmla="*/ 5440 h 8434"/>
                <a:gd name="csX0" fmla="*/ 0 w 10000"/>
                <a:gd name="csY0" fmla="*/ 6450 h 12022"/>
                <a:gd name="csX1" fmla="*/ 5680 w 10000"/>
                <a:gd name="csY1" fmla="*/ 0 h 12022"/>
                <a:gd name="csX2" fmla="*/ 10000 w 10000"/>
                <a:gd name="csY2" fmla="*/ 5205 h 12022"/>
                <a:gd name="csX3" fmla="*/ 5004 w 10000"/>
                <a:gd name="csY3" fmla="*/ 12022 h 12022"/>
                <a:gd name="csX4" fmla="*/ 0 w 10000"/>
                <a:gd name="csY4" fmla="*/ 6450 h 12022"/>
                <a:gd name="csX0" fmla="*/ 0 w 10040"/>
                <a:gd name="csY0" fmla="*/ 6450 h 12022"/>
                <a:gd name="csX1" fmla="*/ 5680 w 10040"/>
                <a:gd name="csY1" fmla="*/ 0 h 12022"/>
                <a:gd name="csX2" fmla="*/ 10040 w 10040"/>
                <a:gd name="csY2" fmla="*/ 5681 h 12022"/>
                <a:gd name="csX3" fmla="*/ 5004 w 10040"/>
                <a:gd name="csY3" fmla="*/ 12022 h 12022"/>
                <a:gd name="csX4" fmla="*/ 0 w 10040"/>
                <a:gd name="csY4" fmla="*/ 6450 h 12022"/>
                <a:gd name="csX0" fmla="*/ 0 w 10040"/>
                <a:gd name="csY0" fmla="*/ 6450 h 12022"/>
                <a:gd name="csX1" fmla="*/ 5680 w 10040"/>
                <a:gd name="csY1" fmla="*/ 0 h 12022"/>
                <a:gd name="csX2" fmla="*/ 10040 w 10040"/>
                <a:gd name="csY2" fmla="*/ 5324 h 12022"/>
                <a:gd name="csX3" fmla="*/ 5004 w 10040"/>
                <a:gd name="csY3" fmla="*/ 12022 h 12022"/>
                <a:gd name="csX4" fmla="*/ 0 w 10040"/>
                <a:gd name="csY4" fmla="*/ 6450 h 12022"/>
                <a:gd name="csX0" fmla="*/ 0 w 9602"/>
                <a:gd name="csY0" fmla="*/ 6807 h 12022"/>
                <a:gd name="csX1" fmla="*/ 5242 w 9602"/>
                <a:gd name="csY1" fmla="*/ 0 h 12022"/>
                <a:gd name="csX2" fmla="*/ 9602 w 9602"/>
                <a:gd name="csY2" fmla="*/ 5324 h 12022"/>
                <a:gd name="csX3" fmla="*/ 4566 w 9602"/>
                <a:gd name="csY3" fmla="*/ 12022 h 12022"/>
                <a:gd name="csX4" fmla="*/ 0 w 9602"/>
                <a:gd name="csY4" fmla="*/ 6807 h 12022"/>
                <a:gd name="csX0" fmla="*/ 0 w 9709"/>
                <a:gd name="csY0" fmla="*/ 5068 h 10000"/>
                <a:gd name="csX1" fmla="*/ 5168 w 9709"/>
                <a:gd name="csY1" fmla="*/ 0 h 10000"/>
                <a:gd name="csX2" fmla="*/ 9709 w 9709"/>
                <a:gd name="csY2" fmla="*/ 4429 h 10000"/>
                <a:gd name="csX3" fmla="*/ 4464 w 9709"/>
                <a:gd name="csY3" fmla="*/ 10000 h 10000"/>
                <a:gd name="csX4" fmla="*/ 0 w 9709"/>
                <a:gd name="csY4" fmla="*/ 5068 h 10000"/>
                <a:gd name="csX0" fmla="*/ 0 w 10299"/>
                <a:gd name="csY0" fmla="*/ 5068 h 10000"/>
                <a:gd name="csX1" fmla="*/ 5622 w 10299"/>
                <a:gd name="csY1" fmla="*/ 0 h 10000"/>
                <a:gd name="csX2" fmla="*/ 10299 w 10299"/>
                <a:gd name="csY2" fmla="*/ 4429 h 10000"/>
                <a:gd name="csX3" fmla="*/ 4897 w 10299"/>
                <a:gd name="csY3" fmla="*/ 10000 h 10000"/>
                <a:gd name="csX4" fmla="*/ 0 w 10299"/>
                <a:gd name="csY4" fmla="*/ 5068 h 10000"/>
                <a:gd name="csX0" fmla="*/ 0 w 10299"/>
                <a:gd name="csY0" fmla="*/ 5266 h 10198"/>
                <a:gd name="csX1" fmla="*/ 5494 w 10299"/>
                <a:gd name="csY1" fmla="*/ 0 h 10198"/>
                <a:gd name="csX2" fmla="*/ 10299 w 10299"/>
                <a:gd name="csY2" fmla="*/ 4627 h 10198"/>
                <a:gd name="csX3" fmla="*/ 4897 w 10299"/>
                <a:gd name="csY3" fmla="*/ 10198 h 10198"/>
                <a:gd name="csX4" fmla="*/ 0 w 10299"/>
                <a:gd name="csY4" fmla="*/ 5266 h 10198"/>
                <a:gd name="csX0" fmla="*/ 0 w 10384"/>
                <a:gd name="csY0" fmla="*/ 5266 h 10198"/>
                <a:gd name="csX1" fmla="*/ 5494 w 10384"/>
                <a:gd name="csY1" fmla="*/ 0 h 10198"/>
                <a:gd name="csX2" fmla="*/ 10384 w 10384"/>
                <a:gd name="csY2" fmla="*/ 4726 h 10198"/>
                <a:gd name="csX3" fmla="*/ 4897 w 10384"/>
                <a:gd name="csY3" fmla="*/ 10198 h 10198"/>
                <a:gd name="csX4" fmla="*/ 0 w 10384"/>
                <a:gd name="csY4" fmla="*/ 5266 h 10198"/>
                <a:gd name="csX0" fmla="*/ 0 w 10341"/>
                <a:gd name="csY0" fmla="*/ 5266 h 10198"/>
                <a:gd name="csX1" fmla="*/ 5451 w 10341"/>
                <a:gd name="csY1" fmla="*/ 0 h 10198"/>
                <a:gd name="csX2" fmla="*/ 10341 w 10341"/>
                <a:gd name="csY2" fmla="*/ 4726 h 10198"/>
                <a:gd name="csX3" fmla="*/ 4854 w 10341"/>
                <a:gd name="csY3" fmla="*/ 10198 h 10198"/>
                <a:gd name="csX4" fmla="*/ 0 w 10341"/>
                <a:gd name="csY4" fmla="*/ 5266 h 10198"/>
                <a:gd name="csX0" fmla="*/ 0 w 10405"/>
                <a:gd name="csY0" fmla="*/ 5563 h 10198"/>
                <a:gd name="csX1" fmla="*/ 5515 w 10405"/>
                <a:gd name="csY1" fmla="*/ 0 h 10198"/>
                <a:gd name="csX2" fmla="*/ 10405 w 10405"/>
                <a:gd name="csY2" fmla="*/ 4726 h 10198"/>
                <a:gd name="csX3" fmla="*/ 4918 w 10405"/>
                <a:gd name="csY3" fmla="*/ 10198 h 10198"/>
                <a:gd name="csX4" fmla="*/ 0 w 10405"/>
                <a:gd name="csY4" fmla="*/ 5563 h 10198"/>
                <a:gd name="csX0" fmla="*/ 0 w 10405"/>
                <a:gd name="csY0" fmla="*/ 5266 h 10198"/>
                <a:gd name="csX1" fmla="*/ 5515 w 10405"/>
                <a:gd name="csY1" fmla="*/ 0 h 10198"/>
                <a:gd name="csX2" fmla="*/ 10405 w 10405"/>
                <a:gd name="csY2" fmla="*/ 4726 h 10198"/>
                <a:gd name="csX3" fmla="*/ 4918 w 10405"/>
                <a:gd name="csY3" fmla="*/ 10198 h 10198"/>
                <a:gd name="csX4" fmla="*/ 0 w 10405"/>
                <a:gd name="csY4" fmla="*/ 5266 h 101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05" h="10198">
                  <a:moveTo>
                    <a:pt x="0" y="5266"/>
                  </a:moveTo>
                  <a:lnTo>
                    <a:pt x="5515" y="0"/>
                  </a:lnTo>
                  <a:lnTo>
                    <a:pt x="10405" y="4726"/>
                  </a:lnTo>
                  <a:lnTo>
                    <a:pt x="4918" y="10198"/>
                  </a:lnTo>
                  <a:lnTo>
                    <a:pt x="0" y="5266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32D55962-20CD-A851-12BC-C9F2C7B160B6}"/>
              </a:ext>
            </a:extLst>
          </p:cNvPr>
          <p:cNvSpPr/>
          <p:nvPr/>
        </p:nvSpPr>
        <p:spPr>
          <a:xfrm>
            <a:off x="7307588" y="2058609"/>
            <a:ext cx="640901" cy="311875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</a:t>
            </a: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F3084C09-7E39-37AD-14FD-1CB33D7A3933}"/>
              </a:ext>
            </a:extLst>
          </p:cNvPr>
          <p:cNvSpPr/>
          <p:nvPr/>
        </p:nvSpPr>
        <p:spPr>
          <a:xfrm>
            <a:off x="7958221" y="2058609"/>
            <a:ext cx="640901" cy="311875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B</a:t>
            </a: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0EB7E3B6-2E2A-B8E5-A266-AF17CAF1DEB7}"/>
              </a:ext>
            </a:extLst>
          </p:cNvPr>
          <p:cNvSpPr/>
          <p:nvPr/>
        </p:nvSpPr>
        <p:spPr>
          <a:xfrm>
            <a:off x="8608854" y="2058609"/>
            <a:ext cx="640901" cy="311875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C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502D38F-D13E-5BDD-4228-85680C0F5898}"/>
              </a:ext>
            </a:extLst>
          </p:cNvPr>
          <p:cNvSpPr/>
          <p:nvPr/>
        </p:nvSpPr>
        <p:spPr>
          <a:xfrm>
            <a:off x="378903" y="2334585"/>
            <a:ext cx="2099112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Internal Data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06114C0-C4CC-AB7F-2E2E-CEB16CC95645}"/>
              </a:ext>
            </a:extLst>
          </p:cNvPr>
          <p:cNvSpPr/>
          <p:nvPr/>
        </p:nvSpPr>
        <p:spPr>
          <a:xfrm>
            <a:off x="378903" y="3550035"/>
            <a:ext cx="2099112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External Data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4CC5557-C1E5-CE82-BE18-62AF8566BD21}"/>
              </a:ext>
            </a:extLst>
          </p:cNvPr>
          <p:cNvSpPr/>
          <p:nvPr/>
        </p:nvSpPr>
        <p:spPr>
          <a:xfrm>
            <a:off x="293272" y="4234131"/>
            <a:ext cx="2099112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INSIGHT Industry Expertise</a:t>
            </a:r>
          </a:p>
        </p:txBody>
      </p:sp>
      <p:sp>
        <p:nvSpPr>
          <p:cNvPr id="102" name="Flowchart: Process 101">
            <a:extLst>
              <a:ext uri="{FF2B5EF4-FFF2-40B4-BE49-F238E27FC236}">
                <a16:creationId xmlns:a16="http://schemas.microsoft.com/office/drawing/2014/main" id="{6D84EFF3-36A5-6113-2D68-844365AD609D}"/>
              </a:ext>
            </a:extLst>
          </p:cNvPr>
          <p:cNvSpPr/>
          <p:nvPr/>
        </p:nvSpPr>
        <p:spPr>
          <a:xfrm>
            <a:off x="9609687" y="2345560"/>
            <a:ext cx="310896" cy="850392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03" name="Flowchart: Process 102">
            <a:extLst>
              <a:ext uri="{FF2B5EF4-FFF2-40B4-BE49-F238E27FC236}">
                <a16:creationId xmlns:a16="http://schemas.microsoft.com/office/drawing/2014/main" id="{DC60C186-0CCA-136C-B2C3-24B84AC9A988}"/>
              </a:ext>
            </a:extLst>
          </p:cNvPr>
          <p:cNvSpPr/>
          <p:nvPr/>
        </p:nvSpPr>
        <p:spPr>
          <a:xfrm>
            <a:off x="9609686" y="3226953"/>
            <a:ext cx="310896" cy="850392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</a:t>
            </a:r>
          </a:p>
        </p:txBody>
      </p:sp>
      <p:sp>
        <p:nvSpPr>
          <p:cNvPr id="104" name="Flowchart: Process 103">
            <a:extLst>
              <a:ext uri="{FF2B5EF4-FFF2-40B4-BE49-F238E27FC236}">
                <a16:creationId xmlns:a16="http://schemas.microsoft.com/office/drawing/2014/main" id="{FC963F8E-DA64-450F-D5E4-A3CF36495817}"/>
              </a:ext>
            </a:extLst>
          </p:cNvPr>
          <p:cNvSpPr/>
          <p:nvPr/>
        </p:nvSpPr>
        <p:spPr>
          <a:xfrm>
            <a:off x="9609686" y="4113035"/>
            <a:ext cx="310896" cy="850392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AD2653D-A576-6B77-7959-317F94718128}"/>
              </a:ext>
            </a:extLst>
          </p:cNvPr>
          <p:cNvSpPr txBox="1">
            <a:spLocks/>
          </p:cNvSpPr>
          <p:nvPr/>
        </p:nvSpPr>
        <p:spPr>
          <a:xfrm rot="16200000">
            <a:off x="2455029" y="3384884"/>
            <a:ext cx="902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75A27CA-6FB9-CF4F-3C09-606EFA95B071}"/>
              </a:ext>
            </a:extLst>
          </p:cNvPr>
          <p:cNvSpPr txBox="1">
            <a:spLocks/>
          </p:cNvSpPr>
          <p:nvPr/>
        </p:nvSpPr>
        <p:spPr>
          <a:xfrm rot="1354246">
            <a:off x="3053110" y="4461049"/>
            <a:ext cx="1163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70CCB9-6913-535D-CB6E-959B9A599EAE}"/>
              </a:ext>
            </a:extLst>
          </p:cNvPr>
          <p:cNvSpPr txBox="1">
            <a:spLocks/>
          </p:cNvSpPr>
          <p:nvPr/>
        </p:nvSpPr>
        <p:spPr>
          <a:xfrm rot="20159423">
            <a:off x="4714033" y="4542583"/>
            <a:ext cx="1138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 Context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7DBB84D6-CF0D-FFA8-2EBB-ECCCB6FB6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224795"/>
              </p:ext>
            </p:extLst>
          </p:nvPr>
        </p:nvGraphicFramePr>
        <p:xfrm>
          <a:off x="9949851" y="2033544"/>
          <a:ext cx="1667216" cy="2921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608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833608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</a:tblGrid>
              <a:tr h="307798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Price Reco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P. Win Rate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32628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$17.96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$18.44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</a:tbl>
          </a:graphicData>
        </a:graphic>
      </p:graphicFrame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0221013-D1CF-5DE3-557F-176D6647A560}"/>
              </a:ext>
            </a:extLst>
          </p:cNvPr>
          <p:cNvCxnSpPr>
            <a:cxnSpLocks/>
          </p:cNvCxnSpPr>
          <p:nvPr/>
        </p:nvCxnSpPr>
        <p:spPr>
          <a:xfrm>
            <a:off x="10953749" y="3646698"/>
            <a:ext cx="4572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7EC5BE5-F9D0-530D-2E01-00B06E20FD3F}"/>
              </a:ext>
            </a:extLst>
          </p:cNvPr>
          <p:cNvCxnSpPr>
            <a:cxnSpLocks/>
          </p:cNvCxnSpPr>
          <p:nvPr/>
        </p:nvCxnSpPr>
        <p:spPr>
          <a:xfrm>
            <a:off x="11182349" y="4266080"/>
            <a:ext cx="0" cy="4572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3F20272-80AA-7800-F665-0B398E7AA137}"/>
              </a:ext>
            </a:extLst>
          </p:cNvPr>
          <p:cNvSpPr/>
          <p:nvPr/>
        </p:nvSpPr>
        <p:spPr>
          <a:xfrm>
            <a:off x="341344" y="4845666"/>
            <a:ext cx="2099112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Business Expertise</a:t>
            </a:r>
          </a:p>
        </p:txBody>
      </p:sp>
    </p:spTree>
    <p:extLst>
      <p:ext uri="{BB962C8B-B14F-4D97-AF65-F5344CB8AC3E}">
        <p14:creationId xmlns:p14="http://schemas.microsoft.com/office/powerpoint/2010/main" val="173751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92ECD7-D6A7-1DE5-D441-B0D01806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D72619E-75B6-B252-633E-5004165AF14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807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5" imgH="332" progId="TCLayout.ActiveDocument.1">
                  <p:embed/>
                </p:oleObj>
              </mc:Choice>
              <mc:Fallback>
                <p:oleObj name="think-cell Slide" r:id="rId3" imgW="345" imgH="332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72619E-75B6-B252-633E-5004165AF1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Rectangle 114">
            <a:extLst>
              <a:ext uri="{FF2B5EF4-FFF2-40B4-BE49-F238E27FC236}">
                <a16:creationId xmlns:a16="http://schemas.microsoft.com/office/drawing/2014/main" id="{4548108C-AFA4-7B89-3D34-BA9EBE920B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000" y="1665353"/>
            <a:ext cx="2120664" cy="3925822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10000"/>
                  <a:lumOff val="90000"/>
                  <a:alpha val="19000"/>
                </a:schemeClr>
              </a:gs>
              <a:gs pos="35000">
                <a:schemeClr val="tx2">
                  <a:lumMod val="10000"/>
                  <a:lumOff val="90000"/>
                  <a:alpha val="4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rgbClr val="25282A"/>
              </a:solidFill>
              <a:latin typeface="Arial Narrow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0E76F95-9434-9C5C-0F23-2B82EFD8DD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21883" y="1665352"/>
            <a:ext cx="9289116" cy="3925823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  <a:lumMod val="78000"/>
                </a:schemeClr>
              </a:gs>
              <a:gs pos="35000">
                <a:schemeClr val="bg1">
                  <a:lumMod val="85000"/>
                  <a:alpha val="20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F8A646-66DE-F6EA-BAAC-D071ACC8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Dynamic Model </a:t>
            </a:r>
            <a:r>
              <a:rPr lang="en-US"/>
              <a:t>|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36B0EC-FD7A-4FCB-28CE-6CEB42336C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106D43AD-2968-DE45-C91B-24D7874890FD}"/>
              </a:ext>
            </a:extLst>
          </p:cNvPr>
          <p:cNvSpPr/>
          <p:nvPr/>
        </p:nvSpPr>
        <p:spPr>
          <a:xfrm>
            <a:off x="390525" y="1349320"/>
            <a:ext cx="2218267" cy="350935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Model Inputs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8497A107-4CC7-0C9D-18A1-564B11991149}"/>
              </a:ext>
            </a:extLst>
          </p:cNvPr>
          <p:cNvSpPr/>
          <p:nvPr/>
        </p:nvSpPr>
        <p:spPr>
          <a:xfrm>
            <a:off x="2498463" y="1349320"/>
            <a:ext cx="3906436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Segmentation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E50BD57A-31CD-B2C5-9179-33A765038277}"/>
              </a:ext>
            </a:extLst>
          </p:cNvPr>
          <p:cNvSpPr/>
          <p:nvPr/>
        </p:nvSpPr>
        <p:spPr>
          <a:xfrm>
            <a:off x="6294570" y="1349320"/>
            <a:ext cx="3260034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Parameters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D5C7509E-B74A-2142-FB06-36B6385BA817}"/>
              </a:ext>
            </a:extLst>
          </p:cNvPr>
          <p:cNvSpPr/>
          <p:nvPr/>
        </p:nvSpPr>
        <p:spPr>
          <a:xfrm>
            <a:off x="9444274" y="1349320"/>
            <a:ext cx="2386190" cy="350935"/>
          </a:xfrm>
          <a:prstGeom prst="chevro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Outputs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F7553B9-1174-2BFF-3D2E-1FAE15530920}"/>
              </a:ext>
            </a:extLst>
          </p:cNvPr>
          <p:cNvGraphicFramePr>
            <a:graphicFrameLocks noGrp="1"/>
          </p:cNvGraphicFramePr>
          <p:nvPr/>
        </p:nvGraphicFramePr>
        <p:xfrm>
          <a:off x="6351262" y="2703822"/>
          <a:ext cx="2904597" cy="2546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966">
                  <a:extLst>
                    <a:ext uri="{9D8B030D-6E8A-4147-A177-3AD203B41FA5}">
                      <a16:colId xmlns:a16="http://schemas.microsoft.com/office/drawing/2014/main" val="136644499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  <a:gridCol w="655877">
                  <a:extLst>
                    <a:ext uri="{9D8B030D-6E8A-4147-A177-3AD203B41FA5}">
                      <a16:colId xmlns:a16="http://schemas.microsoft.com/office/drawing/2014/main" val="3741853035"/>
                    </a:ext>
                  </a:extLst>
                </a:gridCol>
              </a:tblGrid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Customer 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Product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Importance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+1.2%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Volume Trend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+2.3%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End </a:t>
                      </a:r>
                      <a:br>
                        <a:rPr lang="en-US" sz="1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Market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+3.4%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-2.6%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2867395"/>
                  </a:ext>
                </a:extLst>
              </a:tr>
            </a:tbl>
          </a:graphicData>
        </a:graphic>
      </p:graphicFrame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8AB06509-99A2-9F56-22FC-A98C53FF4767}"/>
              </a:ext>
            </a:extLst>
          </p:cNvPr>
          <p:cNvSpPr/>
          <p:nvPr/>
        </p:nvSpPr>
        <p:spPr>
          <a:xfrm>
            <a:off x="7307588" y="2363409"/>
            <a:ext cx="640901" cy="311875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</a:t>
            </a: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6F0AEAFF-3496-53E9-20CF-4C863AB04319}"/>
              </a:ext>
            </a:extLst>
          </p:cNvPr>
          <p:cNvSpPr/>
          <p:nvPr/>
        </p:nvSpPr>
        <p:spPr>
          <a:xfrm>
            <a:off x="7958221" y="2363409"/>
            <a:ext cx="640901" cy="311875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B</a:t>
            </a: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63D04552-D49C-9D3F-033A-EF1D9E697176}"/>
              </a:ext>
            </a:extLst>
          </p:cNvPr>
          <p:cNvSpPr/>
          <p:nvPr/>
        </p:nvSpPr>
        <p:spPr>
          <a:xfrm>
            <a:off x="8608854" y="2363409"/>
            <a:ext cx="640901" cy="311875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C</a:t>
            </a:r>
          </a:p>
        </p:txBody>
      </p:sp>
      <p:sp>
        <p:nvSpPr>
          <p:cNvPr id="102" name="Flowchart: Process 101">
            <a:extLst>
              <a:ext uri="{FF2B5EF4-FFF2-40B4-BE49-F238E27FC236}">
                <a16:creationId xmlns:a16="http://schemas.microsoft.com/office/drawing/2014/main" id="{78BD866A-FE46-4CB8-F628-F95F895EF2A8}"/>
              </a:ext>
            </a:extLst>
          </p:cNvPr>
          <p:cNvSpPr/>
          <p:nvPr/>
        </p:nvSpPr>
        <p:spPr>
          <a:xfrm>
            <a:off x="9633540" y="2660132"/>
            <a:ext cx="310896" cy="850392"/>
          </a:xfrm>
          <a:prstGeom prst="flowChartProcess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03" name="Flowchart: Process 102">
            <a:extLst>
              <a:ext uri="{FF2B5EF4-FFF2-40B4-BE49-F238E27FC236}">
                <a16:creationId xmlns:a16="http://schemas.microsoft.com/office/drawing/2014/main" id="{4CED68FB-5548-15E3-A430-8C7D5A3AE6C2}"/>
              </a:ext>
            </a:extLst>
          </p:cNvPr>
          <p:cNvSpPr/>
          <p:nvPr/>
        </p:nvSpPr>
        <p:spPr>
          <a:xfrm>
            <a:off x="9633539" y="3541525"/>
            <a:ext cx="310896" cy="850392"/>
          </a:xfrm>
          <a:prstGeom prst="flowChartProcess">
            <a:avLst/>
          </a:prstGeom>
          <a:solidFill>
            <a:srgbClr val="1D9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</a:t>
            </a:r>
          </a:p>
        </p:txBody>
      </p:sp>
      <p:sp>
        <p:nvSpPr>
          <p:cNvPr id="104" name="Flowchart: Process 103">
            <a:extLst>
              <a:ext uri="{FF2B5EF4-FFF2-40B4-BE49-F238E27FC236}">
                <a16:creationId xmlns:a16="http://schemas.microsoft.com/office/drawing/2014/main" id="{22887D0D-0C12-84FC-B861-6009301667B5}"/>
              </a:ext>
            </a:extLst>
          </p:cNvPr>
          <p:cNvSpPr/>
          <p:nvPr/>
        </p:nvSpPr>
        <p:spPr>
          <a:xfrm>
            <a:off x="9633539" y="4427607"/>
            <a:ext cx="310896" cy="850392"/>
          </a:xfrm>
          <a:prstGeom prst="flowChartProcess">
            <a:avLst/>
          </a:prstGeom>
          <a:solidFill>
            <a:srgbClr val="F49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5B25D3C9-9E26-CD04-8A7F-7F80D9677E88}"/>
              </a:ext>
            </a:extLst>
          </p:cNvPr>
          <p:cNvGraphicFramePr>
            <a:graphicFrameLocks noGrp="1"/>
          </p:cNvGraphicFramePr>
          <p:nvPr/>
        </p:nvGraphicFramePr>
        <p:xfrm>
          <a:off x="9973704" y="2348116"/>
          <a:ext cx="1667216" cy="2921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608">
                  <a:extLst>
                    <a:ext uri="{9D8B030D-6E8A-4147-A177-3AD203B41FA5}">
                      <a16:colId xmlns:a16="http://schemas.microsoft.com/office/drawing/2014/main" val="3073488770"/>
                    </a:ext>
                  </a:extLst>
                </a:gridCol>
                <a:gridCol w="833608">
                  <a:extLst>
                    <a:ext uri="{9D8B030D-6E8A-4147-A177-3AD203B41FA5}">
                      <a16:colId xmlns:a16="http://schemas.microsoft.com/office/drawing/2014/main" val="402369502"/>
                    </a:ext>
                  </a:extLst>
                </a:gridCol>
              </a:tblGrid>
              <a:tr h="307798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Win Rate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32628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$17.96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02327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07002"/>
                  </a:ext>
                </a:extLst>
              </a:tr>
              <a:tr h="8713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$18.44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3664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A1EC89E-6990-3F08-5621-F189C71194E3}"/>
              </a:ext>
            </a:extLst>
          </p:cNvPr>
          <p:cNvSpPr txBox="1">
            <a:spLocks/>
          </p:cNvSpPr>
          <p:nvPr/>
        </p:nvSpPr>
        <p:spPr>
          <a:xfrm>
            <a:off x="6461060" y="234811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chemeClr val="tx1">
                    <a:lumMod val="90000"/>
                    <a:lumOff val="10000"/>
                  </a:schemeClr>
                </a:solidFill>
              </a:rPr>
              <a:t>Lever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B1030-BCE4-47BC-3568-F6A0DD8FF9F0}"/>
              </a:ext>
            </a:extLst>
          </p:cNvPr>
          <p:cNvSpPr txBox="1">
            <a:spLocks/>
          </p:cNvSpPr>
          <p:nvPr/>
        </p:nvSpPr>
        <p:spPr>
          <a:xfrm>
            <a:off x="2631104" y="1851923"/>
            <a:ext cx="3588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Identify which patterns drive behavior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CE4C3-8DF7-C580-A9F0-F4EB66EEDE42}"/>
              </a:ext>
            </a:extLst>
          </p:cNvPr>
          <p:cNvSpPr txBox="1">
            <a:spLocks/>
          </p:cNvSpPr>
          <p:nvPr/>
        </p:nvSpPr>
        <p:spPr>
          <a:xfrm>
            <a:off x="6250947" y="1827965"/>
            <a:ext cx="3193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Differentiate position across segments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1A0807-D00F-8C41-6276-A69191D507C7}"/>
              </a:ext>
            </a:extLst>
          </p:cNvPr>
          <p:cNvSpPr txBox="1">
            <a:spLocks/>
          </p:cNvSpPr>
          <p:nvPr/>
        </p:nvSpPr>
        <p:spPr>
          <a:xfrm>
            <a:off x="9476036" y="1827965"/>
            <a:ext cx="2334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tx2">
                    <a:lumMod val="90000"/>
                    <a:lumOff val="10000"/>
                  </a:schemeClr>
                </a:solidFill>
              </a:rPr>
              <a:t>Predict price and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D6B46-01A6-2304-1D69-B09918986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911" y="2363409"/>
            <a:ext cx="3109940" cy="30874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ECE8D2-CC0C-D9DF-7D84-2DD04743DE9D}"/>
              </a:ext>
            </a:extLst>
          </p:cNvPr>
          <p:cNvSpPr/>
          <p:nvPr/>
        </p:nvSpPr>
        <p:spPr>
          <a:xfrm>
            <a:off x="390525" y="5657850"/>
            <a:ext cx="2100115" cy="57311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Coupled with </a:t>
            </a:r>
            <a:br>
              <a:rPr lang="en-US" sz="1600" b="1"/>
            </a:br>
            <a:r>
              <a:rPr lang="en-US" sz="1600" b="1"/>
              <a:t>Strategic Guidance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04D5BB-0E4C-67C6-7943-3B24F3EE114A}"/>
              </a:ext>
            </a:extLst>
          </p:cNvPr>
          <p:cNvSpPr/>
          <p:nvPr/>
        </p:nvSpPr>
        <p:spPr>
          <a:xfrm>
            <a:off x="2608792" y="5657850"/>
            <a:ext cx="3642155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Distill commercially viable segments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5D5C518D-3101-0637-AC57-B6AD2D6C8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29" y="5742843"/>
            <a:ext cx="408366" cy="40836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2716BD5A-0B85-170F-2BD3-D387F039B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1060" y="5739729"/>
            <a:ext cx="411480" cy="41148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F03D43D-C799-5D7D-6B4C-96D8050E3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0184" y="5739729"/>
            <a:ext cx="411480" cy="4114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8543198-AC3D-D16C-DE3B-229C02F32FAD}"/>
              </a:ext>
            </a:extLst>
          </p:cNvPr>
          <p:cNvSpPr/>
          <p:nvPr/>
        </p:nvSpPr>
        <p:spPr>
          <a:xfrm>
            <a:off x="6397084" y="5657850"/>
            <a:ext cx="2852671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Align position with priorities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AF8BB5-5278-0EEA-BA7C-9FCA28D6066D}"/>
              </a:ext>
            </a:extLst>
          </p:cNvPr>
          <p:cNvSpPr/>
          <p:nvPr/>
        </p:nvSpPr>
        <p:spPr>
          <a:xfrm>
            <a:off x="9633539" y="5657850"/>
            <a:ext cx="2030736" cy="573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Adjust intelligently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46AEF8-4748-3DBF-2946-04612A35C303}"/>
              </a:ext>
            </a:extLst>
          </p:cNvPr>
          <p:cNvSpPr/>
          <p:nvPr/>
        </p:nvSpPr>
        <p:spPr>
          <a:xfrm>
            <a:off x="327768" y="5562352"/>
            <a:ext cx="11429999" cy="72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1277AD-828E-22CD-F022-495EE8E96B4A}"/>
              </a:ext>
            </a:extLst>
          </p:cNvPr>
          <p:cNvGrpSpPr/>
          <p:nvPr/>
        </p:nvGrpSpPr>
        <p:grpSpPr>
          <a:xfrm>
            <a:off x="1274850" y="5371873"/>
            <a:ext cx="333376" cy="347376"/>
            <a:chOff x="1274850" y="5371873"/>
            <a:chExt cx="333376" cy="34737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AF41CEE-6CA2-D906-4AE9-D32AF4EE6E16}"/>
                </a:ext>
              </a:extLst>
            </p:cNvPr>
            <p:cNvSpPr/>
            <p:nvPr/>
          </p:nvSpPr>
          <p:spPr>
            <a:xfrm>
              <a:off x="1274851" y="5387461"/>
              <a:ext cx="333375" cy="33178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B17758-50E9-A140-FF01-BAB25D0C632D}"/>
                </a:ext>
              </a:extLst>
            </p:cNvPr>
            <p:cNvSpPr/>
            <p:nvPr/>
          </p:nvSpPr>
          <p:spPr>
            <a:xfrm>
              <a:off x="1274850" y="5371873"/>
              <a:ext cx="333375" cy="331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/>
                </a:rPr>
                <a:t>+</a:t>
              </a:r>
              <a:endParaRPr kumimoji="0" lang="en-US" sz="3200" i="1" u="none" strike="noStrike" kern="1200" cap="none" spc="0" normalizeH="0" baseline="30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E6A1CDD-AA23-E52D-A23B-0FE94D602624}"/>
              </a:ext>
            </a:extLst>
          </p:cNvPr>
          <p:cNvGrpSpPr/>
          <p:nvPr/>
        </p:nvGrpSpPr>
        <p:grpSpPr>
          <a:xfrm>
            <a:off x="391528" y="3657108"/>
            <a:ext cx="2099112" cy="739378"/>
            <a:chOff x="391528" y="3660159"/>
            <a:chExt cx="2099112" cy="739378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8350C25-CBC5-3C17-000C-76E728DEB9DD}"/>
                </a:ext>
              </a:extLst>
            </p:cNvPr>
            <p:cNvSpPr/>
            <p:nvPr/>
          </p:nvSpPr>
          <p:spPr>
            <a:xfrm>
              <a:off x="391528" y="4125217"/>
              <a:ext cx="2099112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Industry Expertise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52EA108E-6293-DBB2-7333-CB32D230CF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1982" y="3660159"/>
              <a:ext cx="457200" cy="45720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637A027-1B44-C102-37AC-08A65E27F382}"/>
              </a:ext>
            </a:extLst>
          </p:cNvPr>
          <p:cNvGrpSpPr/>
          <p:nvPr/>
        </p:nvGrpSpPr>
        <p:grpSpPr>
          <a:xfrm>
            <a:off x="391528" y="1850550"/>
            <a:ext cx="2099112" cy="725436"/>
            <a:chOff x="391528" y="1888650"/>
            <a:chExt cx="2099112" cy="725436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54F8F8B-92AC-8215-1D2D-2EEE52EFEB9F}"/>
                </a:ext>
              </a:extLst>
            </p:cNvPr>
            <p:cNvSpPr/>
            <p:nvPr/>
          </p:nvSpPr>
          <p:spPr>
            <a:xfrm>
              <a:off x="391528" y="2339766"/>
              <a:ext cx="2099112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Internal Data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19C32272-9642-B667-45F0-19B82465E7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0981" y="1888650"/>
              <a:ext cx="457200" cy="45720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C98305D-0D62-A041-3493-7AF6F301A246}"/>
              </a:ext>
            </a:extLst>
          </p:cNvPr>
          <p:cNvGrpSpPr/>
          <p:nvPr/>
        </p:nvGrpSpPr>
        <p:grpSpPr>
          <a:xfrm>
            <a:off x="391528" y="2743832"/>
            <a:ext cx="2099112" cy="745430"/>
            <a:chOff x="391528" y="2730570"/>
            <a:chExt cx="2099112" cy="74543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FC7539C-10C4-913B-F3EE-4BE04F72F1AA}"/>
                </a:ext>
              </a:extLst>
            </p:cNvPr>
            <p:cNvSpPr/>
            <p:nvPr/>
          </p:nvSpPr>
          <p:spPr>
            <a:xfrm>
              <a:off x="391528" y="3201680"/>
              <a:ext cx="2099112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External Data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9E7E23F5-1A2D-2435-6D48-8C991CDBA3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10981" y="2730570"/>
              <a:ext cx="457200" cy="4572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AD30E6-881C-5A3C-CD50-DD51C49D7C94}"/>
              </a:ext>
            </a:extLst>
          </p:cNvPr>
          <p:cNvGrpSpPr/>
          <p:nvPr/>
        </p:nvGrpSpPr>
        <p:grpSpPr>
          <a:xfrm>
            <a:off x="391528" y="4564333"/>
            <a:ext cx="2099112" cy="734574"/>
            <a:chOff x="391528" y="4602433"/>
            <a:chExt cx="2099112" cy="73457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572E694-DF2A-D2FC-C7F0-DA14FCF51625}"/>
                </a:ext>
              </a:extLst>
            </p:cNvPr>
            <p:cNvSpPr/>
            <p:nvPr/>
          </p:nvSpPr>
          <p:spPr>
            <a:xfrm>
              <a:off x="391528" y="5062687"/>
              <a:ext cx="2099112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In-House Knowledge</a:t>
              </a: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8AFFDF11-DB4A-0D2C-D35B-27953FA1CF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11982" y="4602433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1713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580222-803F-2815-A52C-7A087CBECDF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5052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580222-803F-2815-A52C-7A087CBEC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A30F5EE-41D2-AA9F-CF94-B805B8C2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b="1"/>
              <a:t>Item Resolution </a:t>
            </a:r>
            <a:r>
              <a:rPr lang="en-US"/>
              <a:t>|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84C55-8988-BFA1-A747-C498065CBB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0D3105-F8FC-9468-0FE1-E3B72BE038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0328E-C5EB-4FE8-5804-279623294701}"/>
              </a:ext>
            </a:extLst>
          </p:cNvPr>
          <p:cNvSpPr/>
          <p:nvPr/>
        </p:nvSpPr>
        <p:spPr>
          <a:xfrm>
            <a:off x="10996611" y="90720"/>
            <a:ext cx="866775" cy="89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64F1C4-C369-4D35-4838-8CD1276FD4BA}"/>
              </a:ext>
            </a:extLst>
          </p:cNvPr>
          <p:cNvSpPr/>
          <p:nvPr/>
        </p:nvSpPr>
        <p:spPr>
          <a:xfrm>
            <a:off x="380999" y="1420928"/>
            <a:ext cx="4210051" cy="3714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Configuration Complexity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617B29-C4C1-506A-0E63-EAE1C77E6EF3}"/>
              </a:ext>
            </a:extLst>
          </p:cNvPr>
          <p:cNvSpPr/>
          <p:nvPr/>
        </p:nvSpPr>
        <p:spPr>
          <a:xfrm>
            <a:off x="484852" y="2231383"/>
            <a:ext cx="2363123" cy="36899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1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2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3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4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5</a:t>
            </a: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40</a:t>
            </a: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7D1100-C0AC-68F2-DD74-1656C258CD0E}"/>
              </a:ext>
            </a:extLst>
          </p:cNvPr>
          <p:cNvCxnSpPr>
            <a:cxnSpLocks/>
          </p:cNvCxnSpPr>
          <p:nvPr/>
        </p:nvCxnSpPr>
        <p:spPr>
          <a:xfrm>
            <a:off x="647700" y="3749625"/>
            <a:ext cx="0" cy="1809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53392-578E-0573-33F5-6BAC07F5346C}"/>
              </a:ext>
            </a:extLst>
          </p:cNvPr>
          <p:cNvSpPr/>
          <p:nvPr/>
        </p:nvSpPr>
        <p:spPr>
          <a:xfrm>
            <a:off x="484851" y="1973601"/>
            <a:ext cx="1420149" cy="271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Product Details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C9E4C-AD13-B6C0-34E4-0B96C56D91C3}"/>
              </a:ext>
            </a:extLst>
          </p:cNvPr>
          <p:cNvSpPr/>
          <p:nvPr/>
        </p:nvSpPr>
        <p:spPr>
          <a:xfrm>
            <a:off x="1770726" y="1973601"/>
            <a:ext cx="1553499" cy="271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Incremental Effort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C8ABA1-D1E2-E894-38B4-9E5838D47069}"/>
              </a:ext>
            </a:extLst>
          </p:cNvPr>
          <p:cNvSpPr/>
          <p:nvPr/>
        </p:nvSpPr>
        <p:spPr>
          <a:xfrm>
            <a:off x="3190874" y="1956587"/>
            <a:ext cx="1553499" cy="271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Incremental Value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Flowchart: Manual Operation 16">
            <a:extLst>
              <a:ext uri="{FF2B5EF4-FFF2-40B4-BE49-F238E27FC236}">
                <a16:creationId xmlns:a16="http://schemas.microsoft.com/office/drawing/2014/main" id="{4A808B1C-FB39-0C31-91AB-F8B1FE258508}"/>
              </a:ext>
            </a:extLst>
          </p:cNvPr>
          <p:cNvSpPr/>
          <p:nvPr/>
        </p:nvSpPr>
        <p:spPr>
          <a:xfrm rot="10800000">
            <a:off x="2062161" y="2334275"/>
            <a:ext cx="847726" cy="3587049"/>
          </a:xfrm>
          <a:prstGeom prst="flowChartManualOperati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Manual Operation 17">
            <a:extLst>
              <a:ext uri="{FF2B5EF4-FFF2-40B4-BE49-F238E27FC236}">
                <a16:creationId xmlns:a16="http://schemas.microsoft.com/office/drawing/2014/main" id="{228C3FAB-6EDB-6CD6-E6C5-AC1E41D8E440}"/>
              </a:ext>
            </a:extLst>
          </p:cNvPr>
          <p:cNvSpPr/>
          <p:nvPr/>
        </p:nvSpPr>
        <p:spPr>
          <a:xfrm>
            <a:off x="3437462" y="2334274"/>
            <a:ext cx="847726" cy="3587049"/>
          </a:xfrm>
          <a:prstGeom prst="flowChartManualOperati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B3F427-2C43-C04B-639B-9E13AF4B9833}"/>
              </a:ext>
            </a:extLst>
          </p:cNvPr>
          <p:cNvSpPr/>
          <p:nvPr/>
        </p:nvSpPr>
        <p:spPr>
          <a:xfrm>
            <a:off x="4854576" y="1420927"/>
            <a:ext cx="1613821" cy="3714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Key Inputs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F0A643-F3A1-72C2-FA2E-2606AA965E77}"/>
              </a:ext>
            </a:extLst>
          </p:cNvPr>
          <p:cNvCxnSpPr>
            <a:cxnSpLocks/>
          </p:cNvCxnSpPr>
          <p:nvPr/>
        </p:nvCxnSpPr>
        <p:spPr>
          <a:xfrm>
            <a:off x="4725323" y="1445426"/>
            <a:ext cx="0" cy="4627448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59DB134-9593-CE5D-A316-2C7C9ACDBB7F}"/>
              </a:ext>
            </a:extLst>
          </p:cNvPr>
          <p:cNvSpPr/>
          <p:nvPr/>
        </p:nvSpPr>
        <p:spPr>
          <a:xfrm>
            <a:off x="6540759" y="1420926"/>
            <a:ext cx="5270239" cy="3714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“Intelligence”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6A13A3-E39C-7938-9103-CCD9556ED55A}"/>
              </a:ext>
            </a:extLst>
          </p:cNvPr>
          <p:cNvSpPr/>
          <p:nvPr/>
        </p:nvSpPr>
        <p:spPr>
          <a:xfrm>
            <a:off x="4980973" y="1995528"/>
            <a:ext cx="1372201" cy="4077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Customer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1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2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Product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3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4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5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Deal Context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6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7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Attribute 8</a:t>
            </a:r>
          </a:p>
          <a:p>
            <a:pPr>
              <a:spcBef>
                <a:spcPts val="600"/>
              </a:spcBef>
            </a:pPr>
            <a:endParaRPr lang="en-US" sz="1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00EF7A-B9E4-4C2A-F2A0-877E6BA0EE79}"/>
              </a:ext>
            </a:extLst>
          </p:cNvPr>
          <p:cNvSpPr/>
          <p:nvPr/>
        </p:nvSpPr>
        <p:spPr>
          <a:xfrm>
            <a:off x="6602672" y="1935004"/>
            <a:ext cx="5191123" cy="10369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Inbound request -&gt; parse inputs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9EC03-84D0-8977-8E99-B118250FF6D7}"/>
              </a:ext>
            </a:extLst>
          </p:cNvPr>
          <p:cNvSpPr/>
          <p:nvPr/>
        </p:nvSpPr>
        <p:spPr>
          <a:xfrm>
            <a:off x="6602672" y="3054121"/>
            <a:ext cx="5191123" cy="17431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Resolve ambiguity, assess historic context, enhance 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37D99C-0725-8820-A290-FEC3AE674171}"/>
              </a:ext>
            </a:extLst>
          </p:cNvPr>
          <p:cNvSpPr/>
          <p:nvPr/>
        </p:nvSpPr>
        <p:spPr>
          <a:xfrm>
            <a:off x="6602672" y="4879425"/>
            <a:ext cx="2560320" cy="1217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High Confidence</a:t>
            </a:r>
          </a:p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(Autonomous)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A84B12-F3C5-5A01-C8BF-5A6BAAA8A444}"/>
              </a:ext>
            </a:extLst>
          </p:cNvPr>
          <p:cNvSpPr/>
          <p:nvPr/>
        </p:nvSpPr>
        <p:spPr>
          <a:xfrm>
            <a:off x="9233475" y="4879425"/>
            <a:ext cx="2560320" cy="1217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Mod/Low Confidence</a:t>
            </a:r>
          </a:p>
          <a:p>
            <a:pPr algn="ctr"/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</a:rPr>
              <a:t>(Iterate)</a:t>
            </a:r>
          </a:p>
        </p:txBody>
      </p:sp>
      <p:pic>
        <p:nvPicPr>
          <p:cNvPr id="33" name="Graphic 32" descr="Arrow circle with solid fill">
            <a:extLst>
              <a:ext uri="{FF2B5EF4-FFF2-40B4-BE49-F238E27FC236}">
                <a16:creationId xmlns:a16="http://schemas.microsoft.com/office/drawing/2014/main" id="{56C3C6F1-D007-6843-FBB0-B4A4127C7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6432" y="43811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3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423">
  <a:themeElements>
    <a:clrScheme name="INSIGHT 20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 Theme 082423" id="{6EAA5583-AC75-4593-A326-4F9C596ADB55}" vid="{ACAA30DB-655A-4422-90CB-F22B28D5B7FF}"/>
    </a:ext>
  </a:extLst>
</a:theme>
</file>

<file path=ppt/theme/theme2.xml><?xml version="1.0" encoding="utf-8"?>
<a:theme xmlns:a="http://schemas.openxmlformats.org/drawingml/2006/main" name="1_INSIGHT Theme 082423">
  <a:themeElements>
    <a:clrScheme name="INSIGHT 20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 Theme 082423" id="{0F057F4D-0471-4BFC-88EB-4C8715098FAF}" vid="{2A25A83F-A417-426F-A416-030B02E49F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3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INSIGHT Theme 082423</vt:lpstr>
      <vt:lpstr>1_INSIGHT Theme 082423</vt:lpstr>
      <vt:lpstr>Dynamic Model | We combine data science and strategic guidance to improve decision quality </vt:lpstr>
      <vt:lpstr>Intelligent Resolution | Translates ambiguous customer requests into configured quotes </vt:lpstr>
      <vt:lpstr>Intelligent Resolution | Translates ambiguous customer requests into configured quotes </vt:lpstr>
      <vt:lpstr>Dynamic Model – Scenario Examples</vt:lpstr>
      <vt:lpstr>AI Techniques | ML and Gen AI play different roles in a complete pricing solution</vt:lpstr>
      <vt:lpstr>Dynamic Model | </vt:lpstr>
      <vt:lpstr>Dynamic Model | Evolves with changing market conditions and objectives to maximize profit</vt:lpstr>
      <vt:lpstr>Dynamic Model | </vt:lpstr>
      <vt:lpstr>Dynamic Model | </vt:lpstr>
      <vt:lpstr>Item Resolution |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Leonard</dc:creator>
  <cp:revision>2</cp:revision>
  <dcterms:created xsi:type="dcterms:W3CDTF">2026-05-05T16:20:59Z</dcterms:created>
  <dcterms:modified xsi:type="dcterms:W3CDTF">2026-06-22T17:36:26Z</dcterms:modified>
</cp:coreProperties>
</file>